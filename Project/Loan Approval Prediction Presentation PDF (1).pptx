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0693400" cy="6013450"/>
  <p:notesSz cx="10693400" cy="60134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1864169"/>
            <a:ext cx="9089390" cy="12628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3367532"/>
            <a:ext cx="7485380" cy="1503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Academic</a:t>
            </a:r>
            <a:r>
              <a:rPr spc="35" dirty="0"/>
              <a:t> </a:t>
            </a:r>
            <a:r>
              <a:rPr dirty="0"/>
              <a:t>Capstone</a:t>
            </a:r>
            <a:r>
              <a:rPr spc="35" dirty="0"/>
              <a:t> </a:t>
            </a:r>
            <a:r>
              <a:rPr spc="-10" dirty="0"/>
              <a:t>Presentation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Loan</a:t>
            </a:r>
            <a:r>
              <a:rPr spc="55" dirty="0"/>
              <a:t> </a:t>
            </a:r>
            <a:r>
              <a:rPr dirty="0"/>
              <a:t>Approval</a:t>
            </a:r>
            <a:r>
              <a:rPr spc="55" dirty="0"/>
              <a:t> </a:t>
            </a:r>
            <a:r>
              <a:rPr dirty="0"/>
              <a:t>Prediction</a:t>
            </a:r>
            <a:r>
              <a:rPr spc="55" dirty="0"/>
              <a:t> </a:t>
            </a:r>
            <a:r>
              <a:rPr dirty="0"/>
              <a:t>Using</a:t>
            </a:r>
            <a:r>
              <a:rPr spc="55" dirty="0"/>
              <a:t> </a:t>
            </a:r>
            <a:r>
              <a:rPr dirty="0"/>
              <a:t>Ensemble</a:t>
            </a:r>
            <a:r>
              <a:rPr spc="60" dirty="0"/>
              <a:t> </a:t>
            </a:r>
            <a:r>
              <a:rPr spc="-25" dirty="0"/>
              <a:t>ML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Slide</a:t>
            </a:r>
            <a:r>
              <a:rPr spc="-30" dirty="0"/>
              <a:t> 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Academic</a:t>
            </a:r>
            <a:r>
              <a:rPr spc="35" dirty="0"/>
              <a:t> </a:t>
            </a:r>
            <a:r>
              <a:rPr dirty="0"/>
              <a:t>Capstone</a:t>
            </a:r>
            <a:r>
              <a:rPr spc="35" dirty="0"/>
              <a:t> </a:t>
            </a:r>
            <a:r>
              <a:rPr spc="-10" dirty="0"/>
              <a:t>Presentation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Loan</a:t>
            </a:r>
            <a:r>
              <a:rPr spc="55" dirty="0"/>
              <a:t> </a:t>
            </a:r>
            <a:r>
              <a:rPr dirty="0"/>
              <a:t>Approval</a:t>
            </a:r>
            <a:r>
              <a:rPr spc="55" dirty="0"/>
              <a:t> </a:t>
            </a:r>
            <a:r>
              <a:rPr dirty="0"/>
              <a:t>Prediction</a:t>
            </a:r>
            <a:r>
              <a:rPr spc="55" dirty="0"/>
              <a:t> </a:t>
            </a:r>
            <a:r>
              <a:rPr dirty="0"/>
              <a:t>Using</a:t>
            </a:r>
            <a:r>
              <a:rPr spc="55" dirty="0"/>
              <a:t> </a:t>
            </a:r>
            <a:r>
              <a:rPr dirty="0"/>
              <a:t>Ensemble</a:t>
            </a:r>
            <a:r>
              <a:rPr spc="60" dirty="0"/>
              <a:t> </a:t>
            </a:r>
            <a:r>
              <a:rPr spc="-25" dirty="0"/>
              <a:t>ML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Slide</a:t>
            </a:r>
            <a:r>
              <a:rPr spc="-30" dirty="0"/>
              <a:t> 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383093"/>
            <a:ext cx="4651629" cy="3968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383093"/>
            <a:ext cx="4651629" cy="3968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Academic</a:t>
            </a:r>
            <a:r>
              <a:rPr spc="35" dirty="0"/>
              <a:t> </a:t>
            </a:r>
            <a:r>
              <a:rPr dirty="0"/>
              <a:t>Capstone</a:t>
            </a:r>
            <a:r>
              <a:rPr spc="35" dirty="0"/>
              <a:t> </a:t>
            </a:r>
            <a:r>
              <a:rPr spc="-10" dirty="0"/>
              <a:t>Presentation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Loan</a:t>
            </a:r>
            <a:r>
              <a:rPr spc="55" dirty="0"/>
              <a:t> </a:t>
            </a:r>
            <a:r>
              <a:rPr dirty="0"/>
              <a:t>Approval</a:t>
            </a:r>
            <a:r>
              <a:rPr spc="55" dirty="0"/>
              <a:t> </a:t>
            </a:r>
            <a:r>
              <a:rPr dirty="0"/>
              <a:t>Prediction</a:t>
            </a:r>
            <a:r>
              <a:rPr spc="55" dirty="0"/>
              <a:t> </a:t>
            </a:r>
            <a:r>
              <a:rPr dirty="0"/>
              <a:t>Using</a:t>
            </a:r>
            <a:r>
              <a:rPr spc="55" dirty="0"/>
              <a:t> </a:t>
            </a:r>
            <a:r>
              <a:rPr dirty="0"/>
              <a:t>Ensemble</a:t>
            </a:r>
            <a:r>
              <a:rPr spc="60" dirty="0"/>
              <a:t> </a:t>
            </a:r>
            <a:r>
              <a:rPr spc="-25" dirty="0"/>
              <a:t>ML</a:t>
            </a:r>
            <a:endParaRPr spc="-2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Slide</a:t>
            </a:r>
            <a:r>
              <a:rPr spc="-30" dirty="0"/>
              <a:t> 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Academic</a:t>
            </a:r>
            <a:r>
              <a:rPr spc="35" dirty="0"/>
              <a:t> </a:t>
            </a:r>
            <a:r>
              <a:rPr dirty="0"/>
              <a:t>Capstone</a:t>
            </a:r>
            <a:r>
              <a:rPr spc="35" dirty="0"/>
              <a:t> </a:t>
            </a:r>
            <a:r>
              <a:rPr spc="-10" dirty="0"/>
              <a:t>Presentation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Loan</a:t>
            </a:r>
            <a:r>
              <a:rPr spc="55" dirty="0"/>
              <a:t> </a:t>
            </a:r>
            <a:r>
              <a:rPr dirty="0"/>
              <a:t>Approval</a:t>
            </a:r>
            <a:r>
              <a:rPr spc="55" dirty="0"/>
              <a:t> </a:t>
            </a:r>
            <a:r>
              <a:rPr dirty="0"/>
              <a:t>Prediction</a:t>
            </a:r>
            <a:r>
              <a:rPr spc="55" dirty="0"/>
              <a:t> </a:t>
            </a:r>
            <a:r>
              <a:rPr dirty="0"/>
              <a:t>Using</a:t>
            </a:r>
            <a:r>
              <a:rPr spc="55" dirty="0"/>
              <a:t> </a:t>
            </a:r>
            <a:r>
              <a:rPr dirty="0"/>
              <a:t>Ensemble</a:t>
            </a:r>
            <a:r>
              <a:rPr spc="60" dirty="0"/>
              <a:t> </a:t>
            </a:r>
            <a:r>
              <a:rPr spc="-25" dirty="0"/>
              <a:t>ML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Slide</a:t>
            </a:r>
            <a:r>
              <a:rPr spc="-30" dirty="0"/>
              <a:t> 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Academic</a:t>
            </a:r>
            <a:r>
              <a:rPr spc="35" dirty="0"/>
              <a:t> </a:t>
            </a:r>
            <a:r>
              <a:rPr dirty="0"/>
              <a:t>Capstone</a:t>
            </a:r>
            <a:r>
              <a:rPr spc="35" dirty="0"/>
              <a:t> </a:t>
            </a:r>
            <a:r>
              <a:rPr spc="-10" dirty="0"/>
              <a:t>Presentation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Loan</a:t>
            </a:r>
            <a:r>
              <a:rPr spc="55" dirty="0"/>
              <a:t> </a:t>
            </a:r>
            <a:r>
              <a:rPr dirty="0"/>
              <a:t>Approval</a:t>
            </a:r>
            <a:r>
              <a:rPr spc="55" dirty="0"/>
              <a:t> </a:t>
            </a:r>
            <a:r>
              <a:rPr dirty="0"/>
              <a:t>Prediction</a:t>
            </a:r>
            <a:r>
              <a:rPr spc="55" dirty="0"/>
              <a:t> </a:t>
            </a:r>
            <a:r>
              <a:rPr dirty="0"/>
              <a:t>Using</a:t>
            </a:r>
            <a:r>
              <a:rPr spc="55" dirty="0"/>
              <a:t> </a:t>
            </a:r>
            <a:r>
              <a:rPr dirty="0"/>
              <a:t>Ensemble</a:t>
            </a:r>
            <a:r>
              <a:rPr spc="60" dirty="0"/>
              <a:t> </a:t>
            </a:r>
            <a:r>
              <a:rPr spc="-25" dirty="0"/>
              <a:t>ML</a:t>
            </a:r>
            <a:endParaRPr spc="-2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Slide</a:t>
            </a:r>
            <a:r>
              <a:rPr spc="-30" dirty="0"/>
              <a:t> 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130" cy="6012180"/>
          </a:xfrm>
          <a:custGeom>
            <a:avLst/>
            <a:gdLst/>
            <a:ahLst/>
            <a:cxnLst/>
            <a:rect l="l" t="t" r="r" b="b"/>
            <a:pathLst>
              <a:path w="10692130" h="6012180">
                <a:moveTo>
                  <a:pt x="10692003" y="0"/>
                </a:moveTo>
                <a:lnTo>
                  <a:pt x="0" y="0"/>
                </a:lnTo>
                <a:lnTo>
                  <a:pt x="0" y="6012002"/>
                </a:lnTo>
                <a:lnTo>
                  <a:pt x="10692003" y="6012002"/>
                </a:lnTo>
                <a:lnTo>
                  <a:pt x="10692003" y="0"/>
                </a:lnTo>
                <a:close/>
              </a:path>
            </a:pathLst>
          </a:custGeom>
          <a:solidFill>
            <a:srgbClr val="0E1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240538"/>
            <a:ext cx="9624060" cy="9621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383093"/>
            <a:ext cx="9624060" cy="3968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14398" y="5537517"/>
            <a:ext cx="1200784" cy="128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Academic</a:t>
            </a:r>
            <a:r>
              <a:rPr spc="35" dirty="0"/>
              <a:t> </a:t>
            </a:r>
            <a:r>
              <a:rPr dirty="0"/>
              <a:t>Capstone</a:t>
            </a:r>
            <a:r>
              <a:rPr spc="35" dirty="0"/>
              <a:t> </a:t>
            </a:r>
            <a:r>
              <a:rPr spc="-10" dirty="0"/>
              <a:t>Presentation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35304" y="5537517"/>
            <a:ext cx="1639570" cy="128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Loan</a:t>
            </a:r>
            <a:r>
              <a:rPr spc="55" dirty="0"/>
              <a:t> </a:t>
            </a:r>
            <a:r>
              <a:rPr dirty="0"/>
              <a:t>Approval</a:t>
            </a:r>
            <a:r>
              <a:rPr spc="55" dirty="0"/>
              <a:t> </a:t>
            </a:r>
            <a:r>
              <a:rPr dirty="0"/>
              <a:t>Prediction</a:t>
            </a:r>
            <a:r>
              <a:rPr spc="55" dirty="0"/>
              <a:t> </a:t>
            </a:r>
            <a:r>
              <a:rPr dirty="0"/>
              <a:t>Using</a:t>
            </a:r>
            <a:r>
              <a:rPr spc="55" dirty="0"/>
              <a:t> </a:t>
            </a:r>
            <a:r>
              <a:rPr dirty="0"/>
              <a:t>Ensemble</a:t>
            </a:r>
            <a:r>
              <a:rPr spc="60" dirty="0"/>
              <a:t> </a:t>
            </a:r>
            <a:r>
              <a:rPr spc="-25" dirty="0"/>
              <a:t>ML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754322" y="5537517"/>
            <a:ext cx="340995" cy="128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93A3B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Slide</a:t>
            </a:r>
            <a:r>
              <a:rPr spc="-30" dirty="0"/>
              <a:t> 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304" y="388560"/>
            <a:ext cx="1914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KL</a:t>
            </a:r>
            <a:r>
              <a:rPr sz="1000" spc="-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DEEMED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TO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BE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UNIVERSITY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83753" y="388560"/>
            <a:ext cx="36112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2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|</a:t>
            </a:r>
            <a:r>
              <a:rPr sz="1000" spc="20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DEPARTMENT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OF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COMPUTER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SCIENCE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ENGINEERING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51875" y="388560"/>
            <a:ext cx="1304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5" dirty="0">
                <a:solidFill>
                  <a:srgbClr val="93A3B8"/>
                </a:solidFill>
                <a:latin typeface="Arial MT"/>
                <a:cs typeface="Arial MT"/>
              </a:rPr>
              <a:t>B.TECH</a:t>
            </a:r>
            <a:r>
              <a:rPr sz="1000" spc="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14" dirty="0">
                <a:solidFill>
                  <a:srgbClr val="93A3B8"/>
                </a:solidFill>
                <a:latin typeface="Arial MT"/>
                <a:cs typeface="Arial MT"/>
              </a:rPr>
              <a:t>CSE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(2026–</a:t>
            </a:r>
            <a:r>
              <a:rPr sz="1000" spc="-25" dirty="0">
                <a:solidFill>
                  <a:srgbClr val="93A3B8"/>
                </a:solidFill>
                <a:latin typeface="Arial MT"/>
                <a:cs typeface="Arial MT"/>
              </a:rPr>
              <a:t>27)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8004" y="74540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10121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648004" y="1236298"/>
            <a:ext cx="9396730" cy="1814830"/>
            <a:chOff x="648004" y="1236298"/>
            <a:chExt cx="9396730" cy="1814830"/>
          </a:xfrm>
        </p:grpSpPr>
        <p:sp>
          <p:nvSpPr>
            <p:cNvPr id="7" name="object 7"/>
            <p:cNvSpPr/>
            <p:nvPr/>
          </p:nvSpPr>
          <p:spPr>
            <a:xfrm>
              <a:off x="648004" y="1236298"/>
              <a:ext cx="9396730" cy="1814830"/>
            </a:xfrm>
            <a:custGeom>
              <a:avLst/>
              <a:gdLst/>
              <a:ahLst/>
              <a:cxnLst/>
              <a:rect l="l" t="t" r="r" b="b"/>
              <a:pathLst>
                <a:path w="9396730" h="1814830">
                  <a:moveTo>
                    <a:pt x="9275467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1693752"/>
                  </a:lnTo>
                  <a:lnTo>
                    <a:pt x="9481" y="1740716"/>
                  </a:lnTo>
                  <a:lnTo>
                    <a:pt x="35338" y="1779067"/>
                  </a:lnTo>
                  <a:lnTo>
                    <a:pt x="73689" y="1804924"/>
                  </a:lnTo>
                  <a:lnTo>
                    <a:pt x="120653" y="1814406"/>
                  </a:lnTo>
                  <a:lnTo>
                    <a:pt x="9275467" y="1814406"/>
                  </a:lnTo>
                  <a:lnTo>
                    <a:pt x="9322431" y="1804924"/>
                  </a:lnTo>
                  <a:lnTo>
                    <a:pt x="9360782" y="1779067"/>
                  </a:lnTo>
                  <a:lnTo>
                    <a:pt x="9386639" y="1740716"/>
                  </a:lnTo>
                  <a:lnTo>
                    <a:pt x="9396121" y="1693752"/>
                  </a:lnTo>
                  <a:lnTo>
                    <a:pt x="9396121" y="120653"/>
                  </a:lnTo>
                  <a:lnTo>
                    <a:pt x="9386639" y="73689"/>
                  </a:lnTo>
                  <a:lnTo>
                    <a:pt x="9360782" y="35338"/>
                  </a:lnTo>
                  <a:lnTo>
                    <a:pt x="9322431" y="9481"/>
                  </a:lnTo>
                  <a:lnTo>
                    <a:pt x="9275467" y="0"/>
                  </a:lnTo>
                  <a:close/>
                </a:path>
              </a:pathLst>
            </a:custGeom>
            <a:solidFill>
              <a:srgbClr val="368B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60657" y="1248951"/>
              <a:ext cx="9371330" cy="1789430"/>
            </a:xfrm>
            <a:custGeom>
              <a:avLst/>
              <a:gdLst/>
              <a:ahLst/>
              <a:cxnLst/>
              <a:rect l="l" t="t" r="r" b="b"/>
              <a:pathLst>
                <a:path w="9371330" h="1789430">
                  <a:moveTo>
                    <a:pt x="9262814" y="0"/>
                  </a:moveTo>
                  <a:lnTo>
                    <a:pt x="108001" y="0"/>
                  </a:lnTo>
                  <a:lnTo>
                    <a:pt x="65961" y="8487"/>
                  </a:lnTo>
                  <a:lnTo>
                    <a:pt x="31632" y="31632"/>
                  </a:lnTo>
                  <a:lnTo>
                    <a:pt x="8487" y="65962"/>
                  </a:lnTo>
                  <a:lnTo>
                    <a:pt x="0" y="108001"/>
                  </a:lnTo>
                  <a:lnTo>
                    <a:pt x="0" y="1681099"/>
                  </a:lnTo>
                  <a:lnTo>
                    <a:pt x="8487" y="1723138"/>
                  </a:lnTo>
                  <a:lnTo>
                    <a:pt x="31632" y="1757468"/>
                  </a:lnTo>
                  <a:lnTo>
                    <a:pt x="65961" y="1780613"/>
                  </a:lnTo>
                  <a:lnTo>
                    <a:pt x="108001" y="1789100"/>
                  </a:lnTo>
                  <a:lnTo>
                    <a:pt x="9262814" y="1789100"/>
                  </a:lnTo>
                  <a:lnTo>
                    <a:pt x="9304853" y="1780613"/>
                  </a:lnTo>
                  <a:lnTo>
                    <a:pt x="9339183" y="1757468"/>
                  </a:lnTo>
                  <a:lnTo>
                    <a:pt x="9362328" y="1723138"/>
                  </a:lnTo>
                  <a:lnTo>
                    <a:pt x="9370815" y="1681099"/>
                  </a:lnTo>
                  <a:lnTo>
                    <a:pt x="9370815" y="108001"/>
                  </a:lnTo>
                  <a:lnTo>
                    <a:pt x="9362328" y="65962"/>
                  </a:lnTo>
                  <a:lnTo>
                    <a:pt x="9339183" y="31632"/>
                  </a:lnTo>
                  <a:lnTo>
                    <a:pt x="9304853" y="8487"/>
                  </a:lnTo>
                  <a:lnTo>
                    <a:pt x="9262814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445501" y="1439917"/>
            <a:ext cx="780097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  <a:tabLst>
                <a:tab pos="2539365" algn="l"/>
              </a:tabLst>
            </a:pPr>
            <a:r>
              <a:rPr sz="1000" spc="-9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ACADEMIC</a:t>
            </a:r>
            <a:r>
              <a:rPr sz="1000" spc="7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CAPSTONE</a:t>
            </a:r>
            <a:r>
              <a:rPr sz="1000" spc="7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PRESENTATION</a:t>
            </a:r>
            <a:r>
              <a:rPr sz="100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	</a:t>
            </a:r>
            <a:r>
              <a:rPr sz="1000" spc="55" dirty="0">
                <a:solidFill>
                  <a:srgbClr val="38BDF8"/>
                </a:solidFill>
                <a:latin typeface="Cambria" panose="02040503050406030204"/>
                <a:cs typeface="Cambria" panose="02040503050406030204"/>
              </a:rPr>
              <a:t>•</a:t>
            </a:r>
            <a:r>
              <a:rPr sz="1000" spc="285" dirty="0">
                <a:solidFill>
                  <a:srgbClr val="38BDF8"/>
                </a:solidFill>
                <a:latin typeface="Cambria" panose="02040503050406030204"/>
                <a:cs typeface="Cambria" panose="02040503050406030204"/>
              </a:rPr>
              <a:t>  </a:t>
            </a:r>
            <a:r>
              <a:rPr sz="1000" spc="-8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MACHINE</a:t>
            </a:r>
            <a:r>
              <a:rPr sz="1000" spc="4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LEARNING</a:t>
            </a:r>
            <a:endParaRPr sz="1000">
              <a:latin typeface="Arial Black" panose="020B0A04020102020204"/>
              <a:cs typeface="Arial Black" panose="020B0A04020102020204"/>
            </a:endParaRPr>
          </a:p>
          <a:p>
            <a:pPr marL="12065" marR="5080" algn="ctr">
              <a:lnSpc>
                <a:spcPts val="2580"/>
              </a:lnSpc>
              <a:spcBef>
                <a:spcPts val="525"/>
              </a:spcBef>
            </a:pPr>
            <a:r>
              <a:rPr sz="2450" spc="-14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Loan</a:t>
            </a:r>
            <a:r>
              <a:rPr sz="2450" spc="-40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114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Approval</a:t>
            </a:r>
            <a:r>
              <a:rPr sz="2450" spc="-40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12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Prediction</a:t>
            </a:r>
            <a:r>
              <a:rPr sz="2450" spc="-40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13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Using</a:t>
            </a:r>
            <a:r>
              <a:rPr sz="2450" spc="-40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15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Ensemble</a:t>
            </a:r>
            <a:r>
              <a:rPr sz="2450" spc="-39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2450" spc="-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Machine </a:t>
            </a:r>
            <a:r>
              <a:rPr sz="2450" spc="-1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Learning</a:t>
            </a:r>
            <a:endParaRPr sz="2450">
              <a:latin typeface="Arial Black" panose="020B0A04020102020204"/>
              <a:cs typeface="Arial Black" panose="020B0A04020102020204"/>
            </a:endParaRPr>
          </a:p>
          <a:p>
            <a:pPr marL="1584960" marR="1488440" indent="-88900">
              <a:lnSpc>
                <a:spcPts val="1350"/>
              </a:lnSpc>
              <a:spcBef>
                <a:spcPts val="1005"/>
              </a:spcBef>
            </a:pPr>
            <a:r>
              <a:rPr sz="1200" dirty="0">
                <a:solidFill>
                  <a:srgbClr val="93A3B8"/>
                </a:solidFill>
                <a:latin typeface="Arial MT"/>
                <a:cs typeface="Arial MT"/>
              </a:rPr>
              <a:t>An </a:t>
            </a:r>
            <a:r>
              <a:rPr sz="1200" spc="55" dirty="0">
                <a:solidFill>
                  <a:srgbClr val="93A3B8"/>
                </a:solidFill>
                <a:latin typeface="Arial MT"/>
                <a:cs typeface="Arial MT"/>
              </a:rPr>
              <a:t>Intelligent </a:t>
            </a:r>
            <a:r>
              <a:rPr sz="1200" spc="50" dirty="0">
                <a:solidFill>
                  <a:srgbClr val="93A3B8"/>
                </a:solidFill>
                <a:latin typeface="Arial MT"/>
                <a:cs typeface="Arial MT"/>
              </a:rPr>
              <a:t>Automated </a:t>
            </a:r>
            <a:r>
              <a:rPr sz="1200" dirty="0">
                <a:solidFill>
                  <a:srgbClr val="93A3B8"/>
                </a:solidFill>
                <a:latin typeface="Arial MT"/>
                <a:cs typeface="Arial MT"/>
              </a:rPr>
              <a:t>Credit Scoring </a:t>
            </a:r>
            <a:r>
              <a:rPr sz="1200" spc="70" dirty="0">
                <a:solidFill>
                  <a:srgbClr val="93A3B8"/>
                </a:solidFill>
                <a:latin typeface="Arial MT"/>
                <a:cs typeface="Arial MT"/>
              </a:rPr>
              <a:t>&amp;</a:t>
            </a:r>
            <a:r>
              <a:rPr sz="1200" spc="6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3A3B8"/>
                </a:solidFill>
                <a:latin typeface="Arial MT"/>
                <a:cs typeface="Arial MT"/>
              </a:rPr>
              <a:t>Risk </a:t>
            </a:r>
            <a:r>
              <a:rPr sz="1200" spc="60" dirty="0">
                <a:solidFill>
                  <a:srgbClr val="93A3B8"/>
                </a:solidFill>
                <a:latin typeface="Arial MT"/>
                <a:cs typeface="Arial MT"/>
              </a:rPr>
              <a:t>Mitigation </a:t>
            </a:r>
            <a:r>
              <a:rPr sz="1200" spc="-10" dirty="0">
                <a:solidFill>
                  <a:srgbClr val="93A3B8"/>
                </a:solidFill>
                <a:latin typeface="Arial MT"/>
                <a:cs typeface="Arial MT"/>
              </a:rPr>
              <a:t>Architec-</a:t>
            </a:r>
            <a:r>
              <a:rPr sz="1200" spc="55" dirty="0">
                <a:solidFill>
                  <a:srgbClr val="93A3B8"/>
                </a:solidFill>
                <a:latin typeface="Arial MT"/>
                <a:cs typeface="Arial MT"/>
              </a:rPr>
              <a:t>ture</a:t>
            </a:r>
            <a:r>
              <a:rPr sz="1200" spc="10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3A3B8"/>
                </a:solidFill>
                <a:latin typeface="Arial MT"/>
                <a:cs typeface="Arial MT"/>
              </a:rPr>
              <a:t>Powered</a:t>
            </a:r>
            <a:r>
              <a:rPr sz="1200" spc="9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3A3B8"/>
                </a:solidFill>
                <a:latin typeface="Arial MT"/>
                <a:cs typeface="Arial MT"/>
              </a:rPr>
              <a:t>by</a:t>
            </a:r>
            <a:r>
              <a:rPr sz="1200" spc="10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3A3B8"/>
                </a:solidFill>
                <a:latin typeface="Arial MT"/>
                <a:cs typeface="Arial MT"/>
              </a:rPr>
              <a:t>Random</a:t>
            </a:r>
            <a:r>
              <a:rPr sz="1200" spc="10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3A3B8"/>
                </a:solidFill>
                <a:latin typeface="Arial MT"/>
                <a:cs typeface="Arial MT"/>
              </a:rPr>
              <a:t>Forest,</a:t>
            </a:r>
            <a:r>
              <a:rPr sz="1200" spc="9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3A3B8"/>
                </a:solidFill>
                <a:latin typeface="Arial MT"/>
                <a:cs typeface="Arial MT"/>
              </a:rPr>
              <a:t>XGBoost</a:t>
            </a:r>
            <a:r>
              <a:rPr sz="1200" spc="10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200" spc="70" dirty="0">
                <a:solidFill>
                  <a:srgbClr val="93A3B8"/>
                </a:solidFill>
                <a:latin typeface="Arial MT"/>
                <a:cs typeface="Arial MT"/>
              </a:rPr>
              <a:t>&amp;</a:t>
            </a:r>
            <a:r>
              <a:rPr sz="1200" spc="10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93A3B8"/>
                </a:solidFill>
                <a:latin typeface="Arial MT"/>
                <a:cs typeface="Arial MT"/>
              </a:rPr>
              <a:t>Stacking</a:t>
            </a:r>
            <a:r>
              <a:rPr sz="1200" spc="10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93A3B8"/>
                </a:solidFill>
                <a:latin typeface="Arial MT"/>
                <a:cs typeface="Arial MT"/>
              </a:rPr>
              <a:t>Ensembles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8004" y="3250599"/>
            <a:ext cx="4510405" cy="1155065"/>
            <a:chOff x="648004" y="3250599"/>
            <a:chExt cx="4510405" cy="1155065"/>
          </a:xfrm>
        </p:grpSpPr>
        <p:sp>
          <p:nvSpPr>
            <p:cNvPr id="11" name="object 11"/>
            <p:cNvSpPr/>
            <p:nvPr/>
          </p:nvSpPr>
          <p:spPr>
            <a:xfrm>
              <a:off x="648004" y="3250599"/>
              <a:ext cx="4510405" cy="1155065"/>
            </a:xfrm>
            <a:custGeom>
              <a:avLst/>
              <a:gdLst/>
              <a:ahLst/>
              <a:cxnLst/>
              <a:rect l="l" t="t" r="r" b="b"/>
              <a:pathLst>
                <a:path w="4510405" h="1155064">
                  <a:moveTo>
                    <a:pt x="4389444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4"/>
                  </a:lnTo>
                  <a:lnTo>
                    <a:pt x="0" y="1033944"/>
                  </a:lnTo>
                  <a:lnTo>
                    <a:pt x="9481" y="1080909"/>
                  </a:lnTo>
                  <a:lnTo>
                    <a:pt x="35338" y="1119260"/>
                  </a:lnTo>
                  <a:lnTo>
                    <a:pt x="73689" y="1145117"/>
                  </a:lnTo>
                  <a:lnTo>
                    <a:pt x="120653" y="1154598"/>
                  </a:lnTo>
                  <a:lnTo>
                    <a:pt x="4389444" y="1154598"/>
                  </a:lnTo>
                  <a:lnTo>
                    <a:pt x="4436408" y="1145117"/>
                  </a:lnTo>
                  <a:lnTo>
                    <a:pt x="4474759" y="1119260"/>
                  </a:lnTo>
                  <a:lnTo>
                    <a:pt x="4500616" y="1080909"/>
                  </a:lnTo>
                  <a:lnTo>
                    <a:pt x="4510097" y="1033944"/>
                  </a:lnTo>
                  <a:lnTo>
                    <a:pt x="4510097" y="120654"/>
                  </a:lnTo>
                  <a:lnTo>
                    <a:pt x="4500616" y="73689"/>
                  </a:lnTo>
                  <a:lnTo>
                    <a:pt x="4474759" y="35338"/>
                  </a:lnTo>
                  <a:lnTo>
                    <a:pt x="4436408" y="9481"/>
                  </a:lnTo>
                  <a:lnTo>
                    <a:pt x="4389444" y="0"/>
                  </a:lnTo>
                  <a:close/>
                </a:path>
              </a:pathLst>
            </a:custGeom>
            <a:solidFill>
              <a:srgbClr val="3340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60657" y="3486452"/>
              <a:ext cx="4485005" cy="906144"/>
            </a:xfrm>
            <a:custGeom>
              <a:avLst/>
              <a:gdLst/>
              <a:ahLst/>
              <a:cxnLst/>
              <a:rect l="l" t="t" r="r" b="b"/>
              <a:pathLst>
                <a:path w="4485005" h="906145">
                  <a:moveTo>
                    <a:pt x="4484792" y="0"/>
                  </a:moveTo>
                  <a:lnTo>
                    <a:pt x="0" y="0"/>
                  </a:lnTo>
                  <a:lnTo>
                    <a:pt x="0" y="798091"/>
                  </a:lnTo>
                  <a:lnTo>
                    <a:pt x="8487" y="840130"/>
                  </a:lnTo>
                  <a:lnTo>
                    <a:pt x="31632" y="874460"/>
                  </a:lnTo>
                  <a:lnTo>
                    <a:pt x="65961" y="897605"/>
                  </a:lnTo>
                  <a:lnTo>
                    <a:pt x="108001" y="906092"/>
                  </a:lnTo>
                  <a:lnTo>
                    <a:pt x="4376791" y="906092"/>
                  </a:lnTo>
                  <a:lnTo>
                    <a:pt x="4418830" y="897605"/>
                  </a:lnTo>
                  <a:lnTo>
                    <a:pt x="4453159" y="874460"/>
                  </a:lnTo>
                  <a:lnTo>
                    <a:pt x="4476305" y="840130"/>
                  </a:lnTo>
                  <a:lnTo>
                    <a:pt x="4484792" y="798091"/>
                  </a:lnTo>
                  <a:lnTo>
                    <a:pt x="4484792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835786" y="3253319"/>
            <a:ext cx="16084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Project</a:t>
            </a:r>
            <a:r>
              <a:rPr sz="11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2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Team</a:t>
            </a:r>
            <a:r>
              <a:rPr sz="11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Members</a:t>
            </a:r>
            <a:endParaRPr sz="1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17468" y="3546599"/>
            <a:ext cx="1452880" cy="47117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spc="-10" dirty="0">
                <a:solidFill>
                  <a:srgbClr val="93A3B8"/>
                </a:solidFill>
                <a:latin typeface="Arial MT"/>
                <a:cs typeface="Arial MT"/>
              </a:rPr>
              <a:t>(Roll</a:t>
            </a:r>
            <a:r>
              <a:rPr sz="1100" spc="-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No:</a:t>
            </a:r>
            <a:r>
              <a:rPr sz="1100" spc="10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3A3B8"/>
                </a:solidFill>
                <a:latin typeface="Arial MT"/>
                <a:cs typeface="Arial MT"/>
              </a:rPr>
              <a:t>2520030319)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100" spc="-10" dirty="0">
                <a:solidFill>
                  <a:srgbClr val="93A3B8"/>
                </a:solidFill>
                <a:latin typeface="Arial MT"/>
                <a:cs typeface="Arial MT"/>
              </a:rPr>
              <a:t>(Roll</a:t>
            </a:r>
            <a:r>
              <a:rPr sz="1100" spc="-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No:</a:t>
            </a:r>
            <a:r>
              <a:rPr sz="1100" spc="10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3A3B8"/>
                </a:solidFill>
                <a:latin typeface="Arial MT"/>
                <a:cs typeface="Arial MT"/>
              </a:rPr>
              <a:t>2520030526)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5786" y="3546599"/>
            <a:ext cx="1672589" cy="69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8605">
              <a:lnSpc>
                <a:spcPct val="133000"/>
              </a:lnSpc>
              <a:spcBef>
                <a:spcPts val="100"/>
              </a:spcBef>
            </a:pPr>
            <a:r>
              <a:rPr sz="1100" spc="-10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B.</a:t>
            </a:r>
            <a:r>
              <a:rPr sz="1100" spc="-6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Rohan</a:t>
            </a:r>
            <a:r>
              <a:rPr sz="1100" spc="-6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8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Raja</a:t>
            </a:r>
            <a:r>
              <a:rPr sz="1100" spc="-6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7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Gopal </a:t>
            </a:r>
            <a:r>
              <a:rPr sz="1100" spc="-8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Tarun</a:t>
            </a:r>
            <a:r>
              <a:rPr sz="1100" spc="-6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Varakala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Program:</a:t>
            </a:r>
            <a:r>
              <a:rPr sz="1000" spc="17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93A3B8"/>
                </a:solidFill>
                <a:latin typeface="Arial MT"/>
                <a:cs typeface="Arial MT"/>
              </a:rPr>
              <a:t>B.Tech</a:t>
            </a:r>
            <a:r>
              <a:rPr sz="1000" spc="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II-Year</a:t>
            </a:r>
            <a:r>
              <a:rPr sz="1000" spc="5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75" dirty="0">
                <a:solidFill>
                  <a:srgbClr val="93A3B8"/>
                </a:solidFill>
                <a:latin typeface="Arial MT"/>
                <a:cs typeface="Arial MT"/>
              </a:rPr>
              <a:t>CSE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33961" y="3282465"/>
            <a:ext cx="4510405" cy="1123315"/>
            <a:chOff x="5533961" y="3282465"/>
            <a:chExt cx="4510405" cy="1123315"/>
          </a:xfrm>
        </p:grpSpPr>
        <p:sp>
          <p:nvSpPr>
            <p:cNvPr id="17" name="object 17"/>
            <p:cNvSpPr/>
            <p:nvPr/>
          </p:nvSpPr>
          <p:spPr>
            <a:xfrm>
              <a:off x="5533961" y="3282465"/>
              <a:ext cx="4510405" cy="1123315"/>
            </a:xfrm>
            <a:custGeom>
              <a:avLst/>
              <a:gdLst/>
              <a:ahLst/>
              <a:cxnLst/>
              <a:rect l="l" t="t" r="r" b="b"/>
              <a:pathLst>
                <a:path w="4510405" h="1123314">
                  <a:moveTo>
                    <a:pt x="4389444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1002078"/>
                  </a:lnTo>
                  <a:lnTo>
                    <a:pt x="9481" y="1049042"/>
                  </a:lnTo>
                  <a:lnTo>
                    <a:pt x="35338" y="1087394"/>
                  </a:lnTo>
                  <a:lnTo>
                    <a:pt x="73689" y="1113251"/>
                  </a:lnTo>
                  <a:lnTo>
                    <a:pt x="120653" y="1122732"/>
                  </a:lnTo>
                  <a:lnTo>
                    <a:pt x="4389444" y="1122732"/>
                  </a:lnTo>
                  <a:lnTo>
                    <a:pt x="4436408" y="1113251"/>
                  </a:lnTo>
                  <a:lnTo>
                    <a:pt x="4474759" y="1087394"/>
                  </a:lnTo>
                  <a:lnTo>
                    <a:pt x="4500616" y="1049042"/>
                  </a:lnTo>
                  <a:lnTo>
                    <a:pt x="4510097" y="1002078"/>
                  </a:lnTo>
                  <a:lnTo>
                    <a:pt x="4510097" y="120653"/>
                  </a:lnTo>
                  <a:lnTo>
                    <a:pt x="4500616" y="73689"/>
                  </a:lnTo>
                  <a:lnTo>
                    <a:pt x="4474759" y="35338"/>
                  </a:lnTo>
                  <a:lnTo>
                    <a:pt x="4436408" y="9481"/>
                  </a:lnTo>
                  <a:lnTo>
                    <a:pt x="4389444" y="0"/>
                  </a:lnTo>
                  <a:close/>
                </a:path>
              </a:pathLst>
            </a:custGeom>
            <a:solidFill>
              <a:srgbClr val="3340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546614" y="3486452"/>
              <a:ext cx="4485005" cy="906144"/>
            </a:xfrm>
            <a:custGeom>
              <a:avLst/>
              <a:gdLst/>
              <a:ahLst/>
              <a:cxnLst/>
              <a:rect l="l" t="t" r="r" b="b"/>
              <a:pathLst>
                <a:path w="4485005" h="906145">
                  <a:moveTo>
                    <a:pt x="4484792" y="0"/>
                  </a:moveTo>
                  <a:lnTo>
                    <a:pt x="0" y="0"/>
                  </a:lnTo>
                  <a:lnTo>
                    <a:pt x="0" y="798091"/>
                  </a:lnTo>
                  <a:lnTo>
                    <a:pt x="8487" y="840130"/>
                  </a:lnTo>
                  <a:lnTo>
                    <a:pt x="31632" y="874460"/>
                  </a:lnTo>
                  <a:lnTo>
                    <a:pt x="65961" y="897605"/>
                  </a:lnTo>
                  <a:lnTo>
                    <a:pt x="108001" y="906092"/>
                  </a:lnTo>
                  <a:lnTo>
                    <a:pt x="4376791" y="906092"/>
                  </a:lnTo>
                  <a:lnTo>
                    <a:pt x="4418830" y="897605"/>
                  </a:lnTo>
                  <a:lnTo>
                    <a:pt x="4453159" y="874460"/>
                  </a:lnTo>
                  <a:lnTo>
                    <a:pt x="4476305" y="840130"/>
                  </a:lnTo>
                  <a:lnTo>
                    <a:pt x="4484792" y="798091"/>
                  </a:lnTo>
                  <a:lnTo>
                    <a:pt x="4484792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686710" y="3546599"/>
            <a:ext cx="1169670" cy="471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58190">
              <a:lnSpc>
                <a:spcPct val="133000"/>
              </a:lnSpc>
              <a:spcBef>
                <a:spcPts val="100"/>
              </a:spcBef>
            </a:pPr>
            <a:r>
              <a:rPr sz="1100" spc="-10" dirty="0">
                <a:solidFill>
                  <a:srgbClr val="93A3B8"/>
                </a:solidFill>
                <a:latin typeface="Arial MT"/>
                <a:cs typeface="Arial MT"/>
              </a:rPr>
              <a:t>Guide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Course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40" dirty="0">
                <a:solidFill>
                  <a:srgbClr val="93A3B8"/>
                </a:solidFill>
                <a:latin typeface="Arial MT"/>
                <a:cs typeface="Arial MT"/>
              </a:rPr>
              <a:t>Instructor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21743" y="3285183"/>
            <a:ext cx="2892425" cy="949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Course</a:t>
            </a:r>
            <a:r>
              <a:rPr sz="11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Guides</a:t>
            </a:r>
            <a:r>
              <a:rPr sz="11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1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Mentors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 marR="941705">
              <a:lnSpc>
                <a:spcPct val="133000"/>
              </a:lnSpc>
              <a:spcBef>
                <a:spcPts val="750"/>
              </a:spcBef>
            </a:pPr>
            <a:r>
              <a:rPr sz="1100" spc="-5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Dr.</a:t>
            </a:r>
            <a:r>
              <a:rPr sz="1100" spc="2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4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Nirmala</a:t>
            </a:r>
            <a:r>
              <a:rPr sz="1100" spc="-8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Jyothi</a:t>
            </a:r>
            <a:r>
              <a:rPr sz="1100" spc="-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5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Narisetty </a:t>
            </a:r>
            <a:r>
              <a:rPr sz="1100" spc="-3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8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D.</a:t>
            </a:r>
            <a:r>
              <a:rPr sz="1100" spc="-8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Jyothsna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Department</a:t>
            </a:r>
            <a:r>
              <a:rPr sz="1000" spc="14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55" dirty="0">
                <a:solidFill>
                  <a:srgbClr val="93A3B8"/>
                </a:solidFill>
                <a:latin typeface="Arial MT"/>
                <a:cs typeface="Arial MT"/>
              </a:rPr>
              <a:t>of</a:t>
            </a:r>
            <a:r>
              <a:rPr sz="1000" spc="14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Computer</a:t>
            </a:r>
            <a:r>
              <a:rPr sz="1000" spc="14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Science</a:t>
            </a:r>
            <a:r>
              <a:rPr sz="1000" spc="14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65" dirty="0">
                <a:solidFill>
                  <a:srgbClr val="93A3B8"/>
                </a:solidFill>
                <a:latin typeface="Arial MT"/>
                <a:cs typeface="Arial MT"/>
              </a:rPr>
              <a:t>&amp;</a:t>
            </a:r>
            <a:r>
              <a:rPr sz="1000" spc="14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Engineering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48004" y="5380215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6324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Loan</a:t>
            </a:r>
            <a:r>
              <a:rPr spc="55" dirty="0"/>
              <a:t> </a:t>
            </a:r>
            <a:r>
              <a:rPr dirty="0"/>
              <a:t>Approval</a:t>
            </a:r>
            <a:r>
              <a:rPr spc="55" dirty="0"/>
              <a:t> </a:t>
            </a:r>
            <a:r>
              <a:rPr dirty="0"/>
              <a:t>Prediction</a:t>
            </a:r>
            <a:r>
              <a:rPr spc="55" dirty="0"/>
              <a:t> </a:t>
            </a:r>
            <a:r>
              <a:rPr dirty="0"/>
              <a:t>Using</a:t>
            </a:r>
            <a:r>
              <a:rPr spc="55" dirty="0"/>
              <a:t> </a:t>
            </a:r>
            <a:r>
              <a:rPr dirty="0"/>
              <a:t>Ensemble</a:t>
            </a:r>
            <a:r>
              <a:rPr spc="60" dirty="0"/>
              <a:t> </a:t>
            </a:r>
            <a:r>
              <a:rPr spc="-25" dirty="0"/>
              <a:t>ML</a:t>
            </a:r>
            <a:endParaRPr spc="-25" dirty="0"/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Academic</a:t>
            </a:r>
            <a:r>
              <a:rPr spc="35" dirty="0"/>
              <a:t> </a:t>
            </a:r>
            <a:r>
              <a:rPr dirty="0"/>
              <a:t>Capstone</a:t>
            </a:r>
            <a:r>
              <a:rPr spc="35" dirty="0"/>
              <a:t> </a:t>
            </a:r>
            <a:r>
              <a:rPr spc="-10" dirty="0"/>
              <a:t>Presentation</a:t>
            </a:r>
            <a:endParaRPr spc="-10"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Slide</a:t>
            </a:r>
            <a:r>
              <a:rPr spc="-30" dirty="0"/>
              <a:t> 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304" y="388560"/>
            <a:ext cx="1914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KL</a:t>
            </a:r>
            <a:r>
              <a:rPr sz="1000" spc="-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DEEMED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TO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BE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UNIVERSITY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83753" y="388560"/>
            <a:ext cx="36112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2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|</a:t>
            </a:r>
            <a:r>
              <a:rPr sz="1000" spc="20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DEPARTMENT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OF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COMPUTER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SCIENCE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ENGINEERING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51875" y="388560"/>
            <a:ext cx="1304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5" dirty="0">
                <a:solidFill>
                  <a:srgbClr val="93A3B8"/>
                </a:solidFill>
                <a:latin typeface="Arial MT"/>
                <a:cs typeface="Arial MT"/>
              </a:rPr>
              <a:t>B.TECH</a:t>
            </a:r>
            <a:r>
              <a:rPr sz="1000" spc="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14" dirty="0">
                <a:solidFill>
                  <a:srgbClr val="93A3B8"/>
                </a:solidFill>
                <a:latin typeface="Arial MT"/>
                <a:cs typeface="Arial MT"/>
              </a:rPr>
              <a:t>CSE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(2026–</a:t>
            </a:r>
            <a:r>
              <a:rPr sz="1000" spc="-25" dirty="0">
                <a:solidFill>
                  <a:srgbClr val="93A3B8"/>
                </a:solidFill>
                <a:latin typeface="Arial MT"/>
                <a:cs typeface="Arial MT"/>
              </a:rPr>
              <a:t>27)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8004" y="74540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10121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5304" y="828862"/>
            <a:ext cx="22491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Abstract</a:t>
            </a:r>
            <a:r>
              <a:rPr sz="1400" spc="-7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1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400" spc="-6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8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Project</a:t>
            </a:r>
            <a:r>
              <a:rPr sz="1400" spc="-6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10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Scope</a:t>
            </a:r>
            <a:endParaRPr sz="14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8004" y="1284383"/>
            <a:ext cx="4510405" cy="1617345"/>
            <a:chOff x="648004" y="1284383"/>
            <a:chExt cx="4510405" cy="1617345"/>
          </a:xfrm>
        </p:grpSpPr>
        <p:sp>
          <p:nvSpPr>
            <p:cNvPr id="8" name="object 8"/>
            <p:cNvSpPr/>
            <p:nvPr/>
          </p:nvSpPr>
          <p:spPr>
            <a:xfrm>
              <a:off x="648004" y="1284383"/>
              <a:ext cx="4510405" cy="1617345"/>
            </a:xfrm>
            <a:custGeom>
              <a:avLst/>
              <a:gdLst/>
              <a:ahLst/>
              <a:cxnLst/>
              <a:rect l="l" t="t" r="r" b="b"/>
              <a:pathLst>
                <a:path w="4510405" h="1617345">
                  <a:moveTo>
                    <a:pt x="4389444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1496582"/>
                  </a:lnTo>
                  <a:lnTo>
                    <a:pt x="9481" y="1543546"/>
                  </a:lnTo>
                  <a:lnTo>
                    <a:pt x="35338" y="1581897"/>
                  </a:lnTo>
                  <a:lnTo>
                    <a:pt x="73689" y="1607754"/>
                  </a:lnTo>
                  <a:lnTo>
                    <a:pt x="120653" y="1617236"/>
                  </a:lnTo>
                  <a:lnTo>
                    <a:pt x="4389444" y="1617236"/>
                  </a:lnTo>
                  <a:lnTo>
                    <a:pt x="4436408" y="1607754"/>
                  </a:lnTo>
                  <a:lnTo>
                    <a:pt x="4474759" y="1581897"/>
                  </a:lnTo>
                  <a:lnTo>
                    <a:pt x="4500616" y="1543546"/>
                  </a:lnTo>
                  <a:lnTo>
                    <a:pt x="4510097" y="1496582"/>
                  </a:lnTo>
                  <a:lnTo>
                    <a:pt x="4510097" y="120653"/>
                  </a:lnTo>
                  <a:lnTo>
                    <a:pt x="4500616" y="73689"/>
                  </a:lnTo>
                  <a:lnTo>
                    <a:pt x="4474759" y="35338"/>
                  </a:lnTo>
                  <a:lnTo>
                    <a:pt x="4436408" y="9481"/>
                  </a:lnTo>
                  <a:lnTo>
                    <a:pt x="4389444" y="0"/>
                  </a:lnTo>
                  <a:close/>
                </a:path>
              </a:pathLst>
            </a:custGeom>
            <a:solidFill>
              <a:srgbClr val="368B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0657" y="1488370"/>
              <a:ext cx="4485005" cy="1400810"/>
            </a:xfrm>
            <a:custGeom>
              <a:avLst/>
              <a:gdLst/>
              <a:ahLst/>
              <a:cxnLst/>
              <a:rect l="l" t="t" r="r" b="b"/>
              <a:pathLst>
                <a:path w="4485005" h="1400810">
                  <a:moveTo>
                    <a:pt x="4484792" y="0"/>
                  </a:moveTo>
                  <a:lnTo>
                    <a:pt x="0" y="0"/>
                  </a:lnTo>
                  <a:lnTo>
                    <a:pt x="0" y="1292595"/>
                  </a:lnTo>
                  <a:lnTo>
                    <a:pt x="8487" y="1334634"/>
                  </a:lnTo>
                  <a:lnTo>
                    <a:pt x="31632" y="1368963"/>
                  </a:lnTo>
                  <a:lnTo>
                    <a:pt x="65961" y="1392109"/>
                  </a:lnTo>
                  <a:lnTo>
                    <a:pt x="108001" y="1400596"/>
                  </a:lnTo>
                  <a:lnTo>
                    <a:pt x="4376791" y="1400596"/>
                  </a:lnTo>
                  <a:lnTo>
                    <a:pt x="4418830" y="1392109"/>
                  </a:lnTo>
                  <a:lnTo>
                    <a:pt x="4453159" y="1368963"/>
                  </a:lnTo>
                  <a:lnTo>
                    <a:pt x="4476305" y="1334634"/>
                  </a:lnTo>
                  <a:lnTo>
                    <a:pt x="4484792" y="1292595"/>
                  </a:lnTo>
                  <a:lnTo>
                    <a:pt x="4484792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35786" y="1287105"/>
            <a:ext cx="4134485" cy="144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1100" spc="-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Problem</a:t>
            </a:r>
            <a:r>
              <a:rPr sz="1100" spc="-3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Domain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 marR="5080" algn="just">
              <a:lnSpc>
                <a:spcPct val="103000"/>
              </a:lnSpc>
              <a:spcBef>
                <a:spcPts val="1155"/>
              </a:spcBef>
            </a:pPr>
            <a:r>
              <a:rPr sz="1100" spc="20" dirty="0">
                <a:solidFill>
                  <a:srgbClr val="F8FAFC"/>
                </a:solidFill>
                <a:latin typeface="Arial MT"/>
                <a:cs typeface="Arial MT"/>
              </a:rPr>
              <a:t>Financial institutions rely on accurate assessments </a:t>
            </a:r>
            <a:r>
              <a:rPr sz="1100" spc="55" dirty="0">
                <a:solidFill>
                  <a:srgbClr val="F8FAFC"/>
                </a:solidFill>
                <a:latin typeface="Arial MT"/>
                <a:cs typeface="Arial MT"/>
              </a:rPr>
              <a:t>of </a:t>
            </a:r>
            <a:r>
              <a:rPr sz="1100" spc="20" dirty="0">
                <a:solidFill>
                  <a:srgbClr val="F8FAFC"/>
                </a:solidFill>
                <a:latin typeface="Arial MT"/>
                <a:cs typeface="Arial MT"/>
              </a:rPr>
              <a:t>loan </a:t>
            </a:r>
            <a:r>
              <a:rPr sz="1100" spc="-25" dirty="0">
                <a:solidFill>
                  <a:srgbClr val="F8FAFC"/>
                </a:solidFill>
                <a:latin typeface="Arial MT"/>
                <a:cs typeface="Arial MT"/>
              </a:rPr>
              <a:t>ap-</a:t>
            </a:r>
            <a:r>
              <a:rPr sz="1100" spc="20" dirty="0">
                <a:solidFill>
                  <a:srgbClr val="F8FAFC"/>
                </a:solidFill>
                <a:latin typeface="Arial MT"/>
                <a:cs typeface="Arial MT"/>
              </a:rPr>
              <a:t>plications </a:t>
            </a:r>
            <a:r>
              <a:rPr sz="1100" spc="65" dirty="0">
                <a:solidFill>
                  <a:srgbClr val="F8FAFC"/>
                </a:solidFill>
                <a:latin typeface="Arial MT"/>
                <a:cs typeface="Arial MT"/>
              </a:rPr>
              <a:t>to </a:t>
            </a:r>
            <a:r>
              <a:rPr sz="1100" spc="20" dirty="0">
                <a:solidFill>
                  <a:srgbClr val="F8FAFC"/>
                </a:solidFill>
                <a:latin typeface="Arial MT"/>
                <a:cs typeface="Arial MT"/>
              </a:rPr>
              <a:t>minimize default rates while maximizing credit </a:t>
            </a:r>
            <a:r>
              <a:rPr sz="1100" spc="-25" dirty="0">
                <a:solidFill>
                  <a:srgbClr val="F8FAFC"/>
                </a:solidFill>
                <a:latin typeface="Arial MT"/>
                <a:cs typeface="Arial MT"/>
              </a:rPr>
              <a:t>ap-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proval</a:t>
            </a:r>
            <a:r>
              <a:rPr sz="1100" spc="1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speed.</a:t>
            </a:r>
            <a:endParaRPr sz="1100">
              <a:latin typeface="Arial MT"/>
              <a:cs typeface="Arial MT"/>
            </a:endParaRPr>
          </a:p>
          <a:p>
            <a:pPr marL="12700" marR="5080" algn="just">
              <a:lnSpc>
                <a:spcPct val="103000"/>
              </a:lnSpc>
              <a:spcBef>
                <a:spcPts val="595"/>
              </a:spcBef>
            </a:pPr>
            <a:r>
              <a:rPr sz="1100" spc="20" dirty="0">
                <a:solidFill>
                  <a:srgbClr val="93A3B8"/>
                </a:solidFill>
                <a:latin typeface="Arial MT"/>
                <a:cs typeface="Arial MT"/>
              </a:rPr>
              <a:t>Manual </a:t>
            </a:r>
            <a:r>
              <a:rPr sz="1100" spc="55" dirty="0">
                <a:solidFill>
                  <a:srgbClr val="93A3B8"/>
                </a:solidFill>
                <a:latin typeface="Arial MT"/>
                <a:cs typeface="Arial MT"/>
              </a:rPr>
              <a:t>underwriting</a:t>
            </a:r>
            <a:r>
              <a:rPr sz="1100" spc="3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20" dirty="0">
                <a:solidFill>
                  <a:srgbClr val="93A3B8"/>
                </a:solidFill>
                <a:latin typeface="Arial MT"/>
                <a:cs typeface="Arial MT"/>
              </a:rPr>
              <a:t>is inherently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slow, </a:t>
            </a:r>
            <a:r>
              <a:rPr sz="1100" spc="20" dirty="0">
                <a:solidFill>
                  <a:srgbClr val="93A3B8"/>
                </a:solidFill>
                <a:latin typeface="Arial MT"/>
                <a:cs typeface="Arial MT"/>
              </a:rPr>
              <a:t>prone </a:t>
            </a:r>
            <a:r>
              <a:rPr sz="1100" spc="65" dirty="0">
                <a:solidFill>
                  <a:srgbClr val="93A3B8"/>
                </a:solidFill>
                <a:latin typeface="Arial MT"/>
                <a:cs typeface="Arial MT"/>
              </a:rPr>
              <a:t>to</a:t>
            </a:r>
            <a:r>
              <a:rPr sz="1100" spc="3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20" dirty="0">
                <a:solidFill>
                  <a:srgbClr val="93A3B8"/>
                </a:solidFill>
                <a:latin typeface="Arial MT"/>
                <a:cs typeface="Arial MT"/>
              </a:rPr>
              <a:t>subjective </a:t>
            </a:r>
            <a:r>
              <a:rPr sz="1100" spc="-25" dirty="0">
                <a:solidFill>
                  <a:srgbClr val="93A3B8"/>
                </a:solidFill>
                <a:latin typeface="Arial MT"/>
                <a:cs typeface="Arial MT"/>
              </a:rPr>
              <a:t>hu-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man bias, and vulnerable </a:t>
            </a:r>
            <a:r>
              <a:rPr sz="1100" spc="65" dirty="0">
                <a:solidFill>
                  <a:srgbClr val="93A3B8"/>
                </a:solidFill>
                <a:latin typeface="Arial MT"/>
                <a:cs typeface="Arial MT"/>
              </a:rPr>
              <a:t>to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complex, non-linear credit risk </a:t>
            </a:r>
            <a:r>
              <a:rPr sz="1100" spc="-25" dirty="0">
                <a:solidFill>
                  <a:srgbClr val="93A3B8"/>
                </a:solidFill>
                <a:latin typeface="Arial MT"/>
                <a:cs typeface="Arial MT"/>
              </a:rPr>
              <a:t>in-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teractions</a:t>
            </a:r>
            <a:r>
              <a:rPr sz="1100" spc="10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present</a:t>
            </a:r>
            <a:r>
              <a:rPr sz="1100" spc="10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in</a:t>
            </a:r>
            <a:r>
              <a:rPr sz="1100" spc="10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93A3B8"/>
                </a:solidFill>
                <a:latin typeface="Arial MT"/>
                <a:cs typeface="Arial MT"/>
              </a:rPr>
              <a:t>modern</a:t>
            </a:r>
            <a:r>
              <a:rPr sz="1100" spc="10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applicant</a:t>
            </a:r>
            <a:r>
              <a:rPr sz="1100" spc="10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3A3B8"/>
                </a:solidFill>
                <a:latin typeface="Arial MT"/>
                <a:cs typeface="Arial MT"/>
              </a:rPr>
              <a:t>data.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533961" y="1424594"/>
            <a:ext cx="4510405" cy="1477645"/>
            <a:chOff x="5533961" y="1424594"/>
            <a:chExt cx="4510405" cy="1477645"/>
          </a:xfrm>
        </p:grpSpPr>
        <p:sp>
          <p:nvSpPr>
            <p:cNvPr id="12" name="object 12"/>
            <p:cNvSpPr/>
            <p:nvPr/>
          </p:nvSpPr>
          <p:spPr>
            <a:xfrm>
              <a:off x="5533961" y="1424594"/>
              <a:ext cx="4510405" cy="1477645"/>
            </a:xfrm>
            <a:custGeom>
              <a:avLst/>
              <a:gdLst/>
              <a:ahLst/>
              <a:cxnLst/>
              <a:rect l="l" t="t" r="r" b="b"/>
              <a:pathLst>
                <a:path w="4510405" h="1477645">
                  <a:moveTo>
                    <a:pt x="4389444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1356371"/>
                  </a:lnTo>
                  <a:lnTo>
                    <a:pt x="9481" y="1403335"/>
                  </a:lnTo>
                  <a:lnTo>
                    <a:pt x="35338" y="1441686"/>
                  </a:lnTo>
                  <a:lnTo>
                    <a:pt x="73689" y="1467543"/>
                  </a:lnTo>
                  <a:lnTo>
                    <a:pt x="120653" y="1477025"/>
                  </a:lnTo>
                  <a:lnTo>
                    <a:pt x="4389444" y="1477025"/>
                  </a:lnTo>
                  <a:lnTo>
                    <a:pt x="4436408" y="1467543"/>
                  </a:lnTo>
                  <a:lnTo>
                    <a:pt x="4474759" y="1441686"/>
                  </a:lnTo>
                  <a:lnTo>
                    <a:pt x="4500616" y="1403335"/>
                  </a:lnTo>
                  <a:lnTo>
                    <a:pt x="4510097" y="1356371"/>
                  </a:lnTo>
                  <a:lnTo>
                    <a:pt x="4510097" y="120653"/>
                  </a:lnTo>
                  <a:lnTo>
                    <a:pt x="4500616" y="73689"/>
                  </a:lnTo>
                  <a:lnTo>
                    <a:pt x="4474759" y="35338"/>
                  </a:lnTo>
                  <a:lnTo>
                    <a:pt x="4436408" y="9481"/>
                  </a:lnTo>
                  <a:lnTo>
                    <a:pt x="4389444" y="0"/>
                  </a:lnTo>
                  <a:close/>
                </a:path>
              </a:pathLst>
            </a:custGeom>
            <a:solidFill>
              <a:srgbClr val="3398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546614" y="1660447"/>
              <a:ext cx="4485005" cy="1228725"/>
            </a:xfrm>
            <a:custGeom>
              <a:avLst/>
              <a:gdLst/>
              <a:ahLst/>
              <a:cxnLst/>
              <a:rect l="l" t="t" r="r" b="b"/>
              <a:pathLst>
                <a:path w="4485005" h="1228725">
                  <a:moveTo>
                    <a:pt x="4484792" y="0"/>
                  </a:moveTo>
                  <a:lnTo>
                    <a:pt x="0" y="0"/>
                  </a:lnTo>
                  <a:lnTo>
                    <a:pt x="0" y="1120518"/>
                  </a:lnTo>
                  <a:lnTo>
                    <a:pt x="8487" y="1162557"/>
                  </a:lnTo>
                  <a:lnTo>
                    <a:pt x="31632" y="1196886"/>
                  </a:lnTo>
                  <a:lnTo>
                    <a:pt x="65961" y="1220031"/>
                  </a:lnTo>
                  <a:lnTo>
                    <a:pt x="108001" y="1228519"/>
                  </a:lnTo>
                  <a:lnTo>
                    <a:pt x="4376791" y="1228519"/>
                  </a:lnTo>
                  <a:lnTo>
                    <a:pt x="4418830" y="1220031"/>
                  </a:lnTo>
                  <a:lnTo>
                    <a:pt x="4453159" y="1196886"/>
                  </a:lnTo>
                  <a:lnTo>
                    <a:pt x="4476305" y="1162557"/>
                  </a:lnTo>
                  <a:lnTo>
                    <a:pt x="4484792" y="1120518"/>
                  </a:lnTo>
                  <a:lnTo>
                    <a:pt x="4484792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5721743" y="1427313"/>
            <a:ext cx="18827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0" dirty="0">
                <a:solidFill>
                  <a:srgbClr val="33D299"/>
                </a:solidFill>
                <a:latin typeface="Arial Black" panose="020B0A04020102020204"/>
                <a:cs typeface="Arial Black" panose="020B0A04020102020204"/>
              </a:rPr>
              <a:t>Machine</a:t>
            </a:r>
            <a:r>
              <a:rPr sz="1100" spc="-40" dirty="0">
                <a:solidFill>
                  <a:srgbClr val="33D29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60" dirty="0">
                <a:solidFill>
                  <a:srgbClr val="33D299"/>
                </a:solidFill>
                <a:latin typeface="Arial Black" panose="020B0A04020102020204"/>
                <a:cs typeface="Arial Black" panose="020B0A04020102020204"/>
              </a:rPr>
              <a:t>Learning</a:t>
            </a:r>
            <a:r>
              <a:rPr sz="1100" spc="-40" dirty="0">
                <a:solidFill>
                  <a:srgbClr val="33D29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50" dirty="0">
                <a:solidFill>
                  <a:srgbClr val="33D299"/>
                </a:solidFill>
                <a:latin typeface="Arial Black" panose="020B0A04020102020204"/>
                <a:cs typeface="Arial Black" panose="020B0A04020102020204"/>
              </a:rPr>
              <a:t>Solution</a:t>
            </a:r>
            <a:endParaRPr sz="1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21743" y="1777732"/>
            <a:ext cx="4135120" cy="9563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3000"/>
              </a:lnSpc>
              <a:spcBef>
                <a:spcPts val="55"/>
              </a:spcBef>
            </a:pP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This</a:t>
            </a:r>
            <a:r>
              <a:rPr sz="1100" spc="19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project</a:t>
            </a:r>
            <a:r>
              <a:rPr sz="1100" spc="19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engineered</a:t>
            </a:r>
            <a:r>
              <a:rPr sz="1100" spc="19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an</a:t>
            </a:r>
            <a:r>
              <a:rPr sz="1100" spc="19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automated</a:t>
            </a:r>
            <a:r>
              <a:rPr sz="1100" spc="19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predictive</a:t>
            </a:r>
            <a:r>
              <a:rPr sz="1100" spc="19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framework</a:t>
            </a:r>
            <a:r>
              <a:rPr sz="1100" spc="19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8FAFC"/>
                </a:solidFill>
                <a:latin typeface="Arial MT"/>
                <a:cs typeface="Arial MT"/>
              </a:rPr>
              <a:t>us-</a:t>
            </a:r>
            <a:r>
              <a:rPr sz="1100" spc="10" dirty="0">
                <a:solidFill>
                  <a:srgbClr val="F8FAFC"/>
                </a:solidFill>
                <a:latin typeface="Arial MT"/>
                <a:cs typeface="Arial MT"/>
              </a:rPr>
              <a:t>ing</a:t>
            </a:r>
            <a:r>
              <a:rPr sz="1100" spc="114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F8FAFC"/>
                </a:solidFill>
                <a:latin typeface="Arial MT"/>
                <a:cs typeface="Arial MT"/>
              </a:rPr>
              <a:t>advanced</a:t>
            </a:r>
            <a:r>
              <a:rPr sz="1100" spc="114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F8FAFC"/>
                </a:solidFill>
                <a:latin typeface="Arial MT"/>
                <a:cs typeface="Arial MT"/>
              </a:rPr>
              <a:t>ensemble</a:t>
            </a:r>
            <a:r>
              <a:rPr sz="1100" spc="12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F8FAFC"/>
                </a:solidFill>
                <a:latin typeface="Arial MT"/>
                <a:cs typeface="Arial MT"/>
              </a:rPr>
              <a:t>machine</a:t>
            </a:r>
            <a:r>
              <a:rPr sz="1100" spc="114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F8FAFC"/>
                </a:solidFill>
                <a:latin typeface="Arial MT"/>
                <a:cs typeface="Arial MT"/>
              </a:rPr>
              <a:t>learning</a:t>
            </a:r>
            <a:r>
              <a:rPr sz="1100" spc="12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methodologies.</a:t>
            </a:r>
            <a:endParaRPr sz="1100">
              <a:latin typeface="Arial MT"/>
              <a:cs typeface="Arial MT"/>
            </a:endParaRPr>
          </a:p>
          <a:p>
            <a:pPr marL="12700" marR="5080" algn="just">
              <a:lnSpc>
                <a:spcPct val="103000"/>
              </a:lnSpc>
              <a:spcBef>
                <a:spcPts val="600"/>
              </a:spcBef>
            </a:pP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By</a:t>
            </a:r>
            <a:r>
              <a:rPr sz="1100" spc="19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integrating</a:t>
            </a:r>
            <a:r>
              <a:rPr sz="1100" spc="19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Decision</a:t>
            </a:r>
            <a:r>
              <a:rPr sz="1100" spc="19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Trees,</a:t>
            </a:r>
            <a:r>
              <a:rPr sz="1100" spc="24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Random</a:t>
            </a:r>
            <a:r>
              <a:rPr sz="1100" spc="19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Forest,</a:t>
            </a:r>
            <a:r>
              <a:rPr sz="1100" spc="24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XGBoost,</a:t>
            </a:r>
            <a:r>
              <a:rPr sz="1100" spc="24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93A3B8"/>
                </a:solidFill>
                <a:latin typeface="Arial MT"/>
                <a:cs typeface="Arial MT"/>
              </a:rPr>
              <a:t>and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Stacking meta-models, </a:t>
            </a:r>
            <a:r>
              <a:rPr sz="1100" spc="50" dirty="0">
                <a:solidFill>
                  <a:srgbClr val="93A3B8"/>
                </a:solidFill>
                <a:latin typeface="Arial MT"/>
                <a:cs typeface="Arial MT"/>
              </a:rPr>
              <a:t>the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system delivers high-precision, </a:t>
            </a:r>
            <a:r>
              <a:rPr sz="1100" spc="-10" dirty="0">
                <a:solidFill>
                  <a:srgbClr val="93A3B8"/>
                </a:solidFill>
                <a:latin typeface="Arial MT"/>
                <a:cs typeface="Arial MT"/>
              </a:rPr>
              <a:t>real-</a:t>
            </a:r>
            <a:r>
              <a:rPr sz="1100" spc="55" dirty="0">
                <a:solidFill>
                  <a:srgbClr val="93A3B8"/>
                </a:solidFill>
                <a:latin typeface="Arial MT"/>
                <a:cs typeface="Arial MT"/>
              </a:rPr>
              <a:t>time</a:t>
            </a:r>
            <a:r>
              <a:rPr sz="1100" spc="7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credit</a:t>
            </a:r>
            <a:r>
              <a:rPr sz="1100" spc="7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decisioning</a:t>
            </a:r>
            <a:r>
              <a:rPr sz="1100" spc="7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and</a:t>
            </a:r>
            <a:r>
              <a:rPr sz="1100" spc="7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risk</a:t>
            </a:r>
            <a:r>
              <a:rPr sz="1100" spc="7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3A3B8"/>
                </a:solidFill>
                <a:latin typeface="Arial MT"/>
                <a:cs typeface="Arial MT"/>
              </a:rPr>
              <a:t>profiling.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48004" y="3165794"/>
            <a:ext cx="9396730" cy="1057275"/>
            <a:chOff x="648004" y="3165794"/>
            <a:chExt cx="9396730" cy="1057275"/>
          </a:xfrm>
        </p:grpSpPr>
        <p:sp>
          <p:nvSpPr>
            <p:cNvPr id="17" name="object 17"/>
            <p:cNvSpPr/>
            <p:nvPr/>
          </p:nvSpPr>
          <p:spPr>
            <a:xfrm>
              <a:off x="648004" y="3165794"/>
              <a:ext cx="9396730" cy="1057275"/>
            </a:xfrm>
            <a:custGeom>
              <a:avLst/>
              <a:gdLst/>
              <a:ahLst/>
              <a:cxnLst/>
              <a:rect l="l" t="t" r="r" b="b"/>
              <a:pathLst>
                <a:path w="9396730" h="1057275">
                  <a:moveTo>
                    <a:pt x="9275467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936301"/>
                  </a:lnTo>
                  <a:lnTo>
                    <a:pt x="9481" y="983265"/>
                  </a:lnTo>
                  <a:lnTo>
                    <a:pt x="35338" y="1021616"/>
                  </a:lnTo>
                  <a:lnTo>
                    <a:pt x="73689" y="1047473"/>
                  </a:lnTo>
                  <a:lnTo>
                    <a:pt x="120653" y="1056954"/>
                  </a:lnTo>
                  <a:lnTo>
                    <a:pt x="9275467" y="1056954"/>
                  </a:lnTo>
                  <a:lnTo>
                    <a:pt x="9322431" y="1047473"/>
                  </a:lnTo>
                  <a:lnTo>
                    <a:pt x="9360782" y="1021616"/>
                  </a:lnTo>
                  <a:lnTo>
                    <a:pt x="9386639" y="983265"/>
                  </a:lnTo>
                  <a:lnTo>
                    <a:pt x="9396121" y="936301"/>
                  </a:lnTo>
                  <a:lnTo>
                    <a:pt x="9396121" y="120653"/>
                  </a:lnTo>
                  <a:lnTo>
                    <a:pt x="9386639" y="73689"/>
                  </a:lnTo>
                  <a:lnTo>
                    <a:pt x="9360782" y="35338"/>
                  </a:lnTo>
                  <a:lnTo>
                    <a:pt x="9322431" y="9481"/>
                  </a:lnTo>
                  <a:lnTo>
                    <a:pt x="9275467" y="0"/>
                  </a:lnTo>
                  <a:close/>
                </a:path>
              </a:pathLst>
            </a:custGeom>
            <a:solidFill>
              <a:srgbClr val="8769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60657" y="3401648"/>
              <a:ext cx="9371330" cy="808990"/>
            </a:xfrm>
            <a:custGeom>
              <a:avLst/>
              <a:gdLst/>
              <a:ahLst/>
              <a:cxnLst/>
              <a:rect l="l" t="t" r="r" b="b"/>
              <a:pathLst>
                <a:path w="9371330" h="808989">
                  <a:moveTo>
                    <a:pt x="9370815" y="0"/>
                  </a:moveTo>
                  <a:lnTo>
                    <a:pt x="0" y="0"/>
                  </a:lnTo>
                  <a:lnTo>
                    <a:pt x="0" y="700447"/>
                  </a:lnTo>
                  <a:lnTo>
                    <a:pt x="8487" y="742487"/>
                  </a:lnTo>
                  <a:lnTo>
                    <a:pt x="31632" y="776816"/>
                  </a:lnTo>
                  <a:lnTo>
                    <a:pt x="65961" y="799961"/>
                  </a:lnTo>
                  <a:lnTo>
                    <a:pt x="108001" y="808448"/>
                  </a:lnTo>
                  <a:lnTo>
                    <a:pt x="9262814" y="808448"/>
                  </a:lnTo>
                  <a:lnTo>
                    <a:pt x="9304853" y="799961"/>
                  </a:lnTo>
                  <a:lnTo>
                    <a:pt x="9339183" y="776816"/>
                  </a:lnTo>
                  <a:lnTo>
                    <a:pt x="9362328" y="742487"/>
                  </a:lnTo>
                  <a:lnTo>
                    <a:pt x="9370815" y="700447"/>
                  </a:lnTo>
                  <a:lnTo>
                    <a:pt x="9370815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35786" y="3168508"/>
            <a:ext cx="9020810" cy="8864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1100" spc="-135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Key</a:t>
            </a:r>
            <a:r>
              <a:rPr sz="1100" spc="-45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5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Research</a:t>
            </a:r>
            <a:r>
              <a:rPr sz="1100" spc="-45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Finding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 marR="5080" algn="just">
              <a:lnSpc>
                <a:spcPct val="103000"/>
              </a:lnSpc>
              <a:spcBef>
                <a:spcPts val="1405"/>
              </a:spcBef>
            </a:pPr>
            <a:r>
              <a:rPr sz="1100" spc="-10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Ensemble</a:t>
            </a:r>
            <a:r>
              <a:rPr sz="1100" spc="4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9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Dominance</a:t>
            </a:r>
            <a:r>
              <a:rPr sz="1100" spc="4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over</a:t>
            </a:r>
            <a:r>
              <a:rPr sz="1100" spc="4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Single</a:t>
            </a:r>
            <a:r>
              <a:rPr sz="1100" spc="4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7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Estimators:</a:t>
            </a:r>
            <a:r>
              <a:rPr sz="1100" spc="26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Ensemble learning techniques significantly </a:t>
            </a:r>
            <a:r>
              <a:rPr sz="1100" spc="60" dirty="0">
                <a:solidFill>
                  <a:srgbClr val="93A3B8"/>
                </a:solidFill>
                <a:latin typeface="Arial MT"/>
                <a:cs typeface="Arial MT"/>
              </a:rPr>
              <a:t>outperform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individual baseline models by </a:t>
            </a:r>
            <a:r>
              <a:rPr sz="1100" spc="-10" dirty="0">
                <a:solidFill>
                  <a:srgbClr val="93A3B8"/>
                </a:solidFill>
                <a:latin typeface="Arial MT"/>
                <a:cs typeface="Arial MT"/>
              </a:rPr>
              <a:t>effec-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tively</a:t>
            </a:r>
            <a:r>
              <a:rPr sz="1100" spc="18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capturing</a:t>
            </a:r>
            <a:r>
              <a:rPr sz="1100" spc="18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multi-feature</a:t>
            </a:r>
            <a:r>
              <a:rPr sz="1100" spc="18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interactions,</a:t>
            </a:r>
            <a:r>
              <a:rPr sz="1100" spc="21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handling</a:t>
            </a:r>
            <a:r>
              <a:rPr sz="1100" spc="19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non-linearly</a:t>
            </a:r>
            <a:r>
              <a:rPr sz="1100" spc="18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separable</a:t>
            </a:r>
            <a:r>
              <a:rPr sz="1100" spc="18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credit</a:t>
            </a:r>
            <a:r>
              <a:rPr sz="1100" spc="19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data,</a:t>
            </a:r>
            <a:r>
              <a:rPr sz="1100" spc="204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and</a:t>
            </a:r>
            <a:r>
              <a:rPr sz="1100" spc="19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suppressing</a:t>
            </a:r>
            <a:r>
              <a:rPr sz="1100" spc="18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variance</a:t>
            </a:r>
            <a:r>
              <a:rPr sz="1100" spc="18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across</a:t>
            </a:r>
            <a:r>
              <a:rPr sz="1100" spc="19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diverse</a:t>
            </a:r>
            <a:r>
              <a:rPr sz="1100" spc="18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3A3B8"/>
                </a:solidFill>
                <a:latin typeface="Arial MT"/>
                <a:cs typeface="Arial MT"/>
              </a:rPr>
              <a:t>applicant </a:t>
            </a:r>
            <a:r>
              <a:rPr sz="1100" spc="20" dirty="0">
                <a:solidFill>
                  <a:srgbClr val="93A3B8"/>
                </a:solidFill>
                <a:latin typeface="Arial MT"/>
                <a:cs typeface="Arial MT"/>
              </a:rPr>
              <a:t>demographic</a:t>
            </a:r>
            <a:r>
              <a:rPr sz="1100" spc="17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3A3B8"/>
                </a:solidFill>
                <a:latin typeface="Arial MT"/>
                <a:cs typeface="Arial MT"/>
              </a:rPr>
              <a:t>distributions.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48004" y="5380215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6324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Loan</a:t>
            </a:r>
            <a:r>
              <a:rPr spc="55" dirty="0"/>
              <a:t> </a:t>
            </a:r>
            <a:r>
              <a:rPr dirty="0"/>
              <a:t>Approval</a:t>
            </a:r>
            <a:r>
              <a:rPr spc="55" dirty="0"/>
              <a:t> </a:t>
            </a:r>
            <a:r>
              <a:rPr dirty="0"/>
              <a:t>Prediction</a:t>
            </a:r>
            <a:r>
              <a:rPr spc="55" dirty="0"/>
              <a:t> </a:t>
            </a:r>
            <a:r>
              <a:rPr dirty="0"/>
              <a:t>Using</a:t>
            </a:r>
            <a:r>
              <a:rPr spc="55" dirty="0"/>
              <a:t> </a:t>
            </a:r>
            <a:r>
              <a:rPr dirty="0"/>
              <a:t>Ensemble</a:t>
            </a:r>
            <a:r>
              <a:rPr spc="60" dirty="0"/>
              <a:t> </a:t>
            </a:r>
            <a:r>
              <a:rPr spc="-25" dirty="0"/>
              <a:t>ML</a:t>
            </a:r>
            <a:endParaRPr spc="-25" dirty="0"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Academic</a:t>
            </a:r>
            <a:r>
              <a:rPr spc="35" dirty="0"/>
              <a:t> </a:t>
            </a:r>
            <a:r>
              <a:rPr dirty="0"/>
              <a:t>Capstone</a:t>
            </a:r>
            <a:r>
              <a:rPr spc="35" dirty="0"/>
              <a:t> </a:t>
            </a:r>
            <a:r>
              <a:rPr spc="-10" dirty="0"/>
              <a:t>Presentation</a:t>
            </a:r>
            <a:endParaRPr spc="-1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Slide</a:t>
            </a:r>
            <a:r>
              <a:rPr spc="-30" dirty="0"/>
              <a:t> 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304" y="388560"/>
            <a:ext cx="1914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KL</a:t>
            </a:r>
            <a:r>
              <a:rPr sz="1000" spc="-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DEEMED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TO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BE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UNIVERSITY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83753" y="388560"/>
            <a:ext cx="36112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2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|</a:t>
            </a:r>
            <a:r>
              <a:rPr sz="1000" spc="20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DEPARTMENT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OF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COMPUTER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SCIENCE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ENGINEERING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51875" y="388560"/>
            <a:ext cx="1304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5" dirty="0">
                <a:solidFill>
                  <a:srgbClr val="93A3B8"/>
                </a:solidFill>
                <a:latin typeface="Arial MT"/>
                <a:cs typeface="Arial MT"/>
              </a:rPr>
              <a:t>B.TECH</a:t>
            </a:r>
            <a:r>
              <a:rPr sz="1000" spc="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14" dirty="0">
                <a:solidFill>
                  <a:srgbClr val="93A3B8"/>
                </a:solidFill>
                <a:latin typeface="Arial MT"/>
                <a:cs typeface="Arial MT"/>
              </a:rPr>
              <a:t>CSE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(2026–</a:t>
            </a:r>
            <a:r>
              <a:rPr sz="1000" spc="-25" dirty="0">
                <a:solidFill>
                  <a:srgbClr val="93A3B8"/>
                </a:solidFill>
                <a:latin typeface="Arial MT"/>
                <a:cs typeface="Arial MT"/>
              </a:rPr>
              <a:t>27)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8004" y="74540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10121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5304" y="828862"/>
            <a:ext cx="390715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7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Financial</a:t>
            </a:r>
            <a:r>
              <a:rPr sz="1400" spc="-6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Impact</a:t>
            </a:r>
            <a:r>
              <a:rPr sz="1400" spc="-5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1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400" spc="-5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4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Operational</a:t>
            </a:r>
            <a:r>
              <a:rPr sz="1400" spc="-5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Challenges</a:t>
            </a:r>
            <a:endParaRPr sz="14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8004" y="1357767"/>
            <a:ext cx="9396730" cy="2169160"/>
            <a:chOff x="648004" y="1357767"/>
            <a:chExt cx="9396730" cy="2169160"/>
          </a:xfrm>
        </p:grpSpPr>
        <p:sp>
          <p:nvSpPr>
            <p:cNvPr id="8" name="object 8"/>
            <p:cNvSpPr/>
            <p:nvPr/>
          </p:nvSpPr>
          <p:spPr>
            <a:xfrm>
              <a:off x="648004" y="1357767"/>
              <a:ext cx="9396730" cy="2169160"/>
            </a:xfrm>
            <a:custGeom>
              <a:avLst/>
              <a:gdLst/>
              <a:ahLst/>
              <a:cxnLst/>
              <a:rect l="l" t="t" r="r" b="b"/>
              <a:pathLst>
                <a:path w="9396730" h="2169160">
                  <a:moveTo>
                    <a:pt x="9275467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2047962"/>
                  </a:lnTo>
                  <a:lnTo>
                    <a:pt x="9481" y="2094926"/>
                  </a:lnTo>
                  <a:lnTo>
                    <a:pt x="35338" y="2133277"/>
                  </a:lnTo>
                  <a:lnTo>
                    <a:pt x="73689" y="2159134"/>
                  </a:lnTo>
                  <a:lnTo>
                    <a:pt x="120653" y="2168616"/>
                  </a:lnTo>
                  <a:lnTo>
                    <a:pt x="9275467" y="2168616"/>
                  </a:lnTo>
                  <a:lnTo>
                    <a:pt x="9322431" y="2159134"/>
                  </a:lnTo>
                  <a:lnTo>
                    <a:pt x="9360782" y="2133277"/>
                  </a:lnTo>
                  <a:lnTo>
                    <a:pt x="9386639" y="2094926"/>
                  </a:lnTo>
                  <a:lnTo>
                    <a:pt x="9396121" y="2047962"/>
                  </a:lnTo>
                  <a:lnTo>
                    <a:pt x="9396121" y="120653"/>
                  </a:lnTo>
                  <a:lnTo>
                    <a:pt x="9386639" y="73689"/>
                  </a:lnTo>
                  <a:lnTo>
                    <a:pt x="9360782" y="35338"/>
                  </a:lnTo>
                  <a:lnTo>
                    <a:pt x="9322431" y="9481"/>
                  </a:lnTo>
                  <a:lnTo>
                    <a:pt x="9275467" y="0"/>
                  </a:lnTo>
                  <a:close/>
                </a:path>
              </a:pathLst>
            </a:custGeom>
            <a:solidFill>
              <a:srgbClr val="3340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0657" y="1370419"/>
              <a:ext cx="9371330" cy="2143760"/>
            </a:xfrm>
            <a:custGeom>
              <a:avLst/>
              <a:gdLst/>
              <a:ahLst/>
              <a:cxnLst/>
              <a:rect l="l" t="t" r="r" b="b"/>
              <a:pathLst>
                <a:path w="9371330" h="2143760">
                  <a:moveTo>
                    <a:pt x="9262814" y="0"/>
                  </a:moveTo>
                  <a:lnTo>
                    <a:pt x="108001" y="0"/>
                  </a:lnTo>
                  <a:lnTo>
                    <a:pt x="65961" y="8487"/>
                  </a:lnTo>
                  <a:lnTo>
                    <a:pt x="31632" y="31632"/>
                  </a:lnTo>
                  <a:lnTo>
                    <a:pt x="8487" y="65961"/>
                  </a:lnTo>
                  <a:lnTo>
                    <a:pt x="0" y="108001"/>
                  </a:lnTo>
                  <a:lnTo>
                    <a:pt x="0" y="2035309"/>
                  </a:lnTo>
                  <a:lnTo>
                    <a:pt x="8487" y="2077348"/>
                  </a:lnTo>
                  <a:lnTo>
                    <a:pt x="31632" y="2111678"/>
                  </a:lnTo>
                  <a:lnTo>
                    <a:pt x="65961" y="2134823"/>
                  </a:lnTo>
                  <a:lnTo>
                    <a:pt x="108001" y="2143310"/>
                  </a:lnTo>
                  <a:lnTo>
                    <a:pt x="9262814" y="2143310"/>
                  </a:lnTo>
                  <a:lnTo>
                    <a:pt x="9304853" y="2134823"/>
                  </a:lnTo>
                  <a:lnTo>
                    <a:pt x="9339183" y="2111678"/>
                  </a:lnTo>
                  <a:lnTo>
                    <a:pt x="9362328" y="2077348"/>
                  </a:lnTo>
                  <a:lnTo>
                    <a:pt x="9370815" y="2035309"/>
                  </a:lnTo>
                  <a:lnTo>
                    <a:pt x="9370815" y="108001"/>
                  </a:lnTo>
                  <a:lnTo>
                    <a:pt x="9362328" y="65961"/>
                  </a:lnTo>
                  <a:lnTo>
                    <a:pt x="9339183" y="31632"/>
                  </a:lnTo>
                  <a:lnTo>
                    <a:pt x="9304853" y="8487"/>
                  </a:lnTo>
                  <a:lnTo>
                    <a:pt x="9262814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35786" y="1487714"/>
            <a:ext cx="9020810" cy="18707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9230" marR="5080" indent="-177165">
              <a:lnSpc>
                <a:spcPct val="103000"/>
              </a:lnSpc>
              <a:spcBef>
                <a:spcPts val="55"/>
              </a:spcBef>
              <a:buFont typeface="Lucida Sans Unicode" panose="020B0602030504020204"/>
              <a:buChar char="□"/>
              <a:tabLst>
                <a:tab pos="189230" algn="l"/>
              </a:tabLst>
            </a:pPr>
            <a:r>
              <a:rPr sz="11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High</a:t>
            </a:r>
            <a:r>
              <a:rPr sz="1100" spc="-2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Credit</a:t>
            </a:r>
            <a:r>
              <a:rPr sz="1100" spc="-2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Default</a:t>
            </a:r>
            <a:r>
              <a:rPr sz="1100" spc="-2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Risk</a:t>
            </a:r>
            <a:r>
              <a:rPr sz="1100" spc="-2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7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100" spc="-1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NPAs:</a:t>
            </a:r>
            <a:r>
              <a:rPr sz="1100" spc="19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Traditional</a:t>
            </a:r>
            <a:r>
              <a:rPr sz="1100" spc="4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credit</a:t>
            </a:r>
            <a:r>
              <a:rPr sz="1100" spc="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scoring</a:t>
            </a:r>
            <a:r>
              <a:rPr sz="1100" spc="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models</a:t>
            </a:r>
            <a:r>
              <a:rPr sz="1100" spc="4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rely</a:t>
            </a:r>
            <a:r>
              <a:rPr sz="1100" spc="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on</a:t>
            </a:r>
            <a:r>
              <a:rPr sz="1100" spc="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linear</a:t>
            </a:r>
            <a:r>
              <a:rPr sz="1100" spc="4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boundaries,</a:t>
            </a:r>
            <a:r>
              <a:rPr sz="1100" spc="6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failing</a:t>
            </a:r>
            <a:r>
              <a:rPr sz="1100" spc="4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F8FAFC"/>
                </a:solidFill>
                <a:latin typeface="Arial MT"/>
                <a:cs typeface="Arial MT"/>
              </a:rPr>
              <a:t>to</a:t>
            </a:r>
            <a:r>
              <a:rPr sz="1100" spc="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capture</a:t>
            </a:r>
            <a:r>
              <a:rPr sz="1100" spc="3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complex</a:t>
            </a:r>
            <a:r>
              <a:rPr sz="1100" spc="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risk</a:t>
            </a:r>
            <a:r>
              <a:rPr sz="1100" spc="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relationships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and</a:t>
            </a:r>
            <a:r>
              <a:rPr sz="1100" spc="13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leading</a:t>
            </a:r>
            <a:r>
              <a:rPr sz="1100" spc="13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F8FAFC"/>
                </a:solidFill>
                <a:latin typeface="Arial MT"/>
                <a:cs typeface="Arial MT"/>
              </a:rPr>
              <a:t>to</a:t>
            </a:r>
            <a:r>
              <a:rPr sz="1100" spc="13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higher</a:t>
            </a:r>
            <a:r>
              <a:rPr sz="1100" spc="13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Non-Performing</a:t>
            </a:r>
            <a:r>
              <a:rPr sz="1100" spc="13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Assets</a:t>
            </a:r>
            <a:r>
              <a:rPr sz="1100" spc="13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F8FAFC"/>
                </a:solidFill>
                <a:latin typeface="Arial MT"/>
                <a:cs typeface="Arial MT"/>
              </a:rPr>
              <a:t>(NPAs)</a:t>
            </a:r>
            <a:r>
              <a:rPr sz="1100" spc="13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F8FAFC"/>
                </a:solidFill>
                <a:latin typeface="Arial MT"/>
                <a:cs typeface="Arial MT"/>
              </a:rPr>
              <a:t>for</a:t>
            </a:r>
            <a:r>
              <a:rPr sz="1100" spc="13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lending</a:t>
            </a:r>
            <a:r>
              <a:rPr sz="1100" spc="13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institutions.</a:t>
            </a:r>
            <a:endParaRPr sz="1100">
              <a:latin typeface="Arial MT"/>
              <a:cs typeface="Arial MT"/>
            </a:endParaRPr>
          </a:p>
          <a:p>
            <a:pPr marL="189230" marR="5080" indent="-177165">
              <a:lnSpc>
                <a:spcPct val="103000"/>
              </a:lnSpc>
              <a:spcBef>
                <a:spcPts val="1245"/>
              </a:spcBef>
              <a:buFont typeface="Lucida Sans Unicode" panose="020B0602030504020204"/>
              <a:buChar char="□"/>
              <a:tabLst>
                <a:tab pos="189230" algn="l"/>
              </a:tabLst>
            </a:pPr>
            <a:r>
              <a:rPr sz="1100" spc="-10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Severe</a:t>
            </a:r>
            <a:r>
              <a:rPr sz="1100" spc="11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2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Class</a:t>
            </a:r>
            <a:r>
              <a:rPr sz="1100" spc="11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Imbalance</a:t>
            </a:r>
            <a:r>
              <a:rPr sz="1100" spc="11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in</a:t>
            </a:r>
            <a:r>
              <a:rPr sz="1100" spc="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Financial</a:t>
            </a:r>
            <a:r>
              <a:rPr sz="1100" spc="11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3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Data:</a:t>
            </a:r>
            <a:r>
              <a:rPr sz="1100" spc="33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Loan</a:t>
            </a:r>
            <a:r>
              <a:rPr sz="1100" spc="1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application</a:t>
            </a:r>
            <a:r>
              <a:rPr sz="1100" spc="1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datasets</a:t>
            </a:r>
            <a:r>
              <a:rPr sz="1100" spc="1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naturally</a:t>
            </a:r>
            <a:r>
              <a:rPr sz="1100" spc="1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contain</a:t>
            </a:r>
            <a:r>
              <a:rPr sz="1100" spc="1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significantly</a:t>
            </a:r>
            <a:r>
              <a:rPr sz="1100" spc="1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50" dirty="0">
                <a:solidFill>
                  <a:srgbClr val="F8FAFC"/>
                </a:solidFill>
                <a:latin typeface="Arial MT"/>
                <a:cs typeface="Arial MT"/>
              </a:rPr>
              <a:t>more</a:t>
            </a:r>
            <a:r>
              <a:rPr sz="1100" spc="1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approved</a:t>
            </a:r>
            <a:r>
              <a:rPr sz="1100" spc="1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applications</a:t>
            </a:r>
            <a:r>
              <a:rPr sz="1100" spc="1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30" dirty="0">
                <a:solidFill>
                  <a:srgbClr val="F8FAFC"/>
                </a:solidFill>
                <a:latin typeface="Arial MT"/>
                <a:cs typeface="Arial MT"/>
              </a:rPr>
              <a:t>than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defaults,</a:t>
            </a:r>
            <a:r>
              <a:rPr sz="1100" spc="1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causing</a:t>
            </a:r>
            <a:r>
              <a:rPr sz="1100" spc="1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50" dirty="0">
                <a:solidFill>
                  <a:srgbClr val="F8FAFC"/>
                </a:solidFill>
                <a:latin typeface="Arial MT"/>
                <a:cs typeface="Arial MT"/>
              </a:rPr>
              <a:t>unimplemented</a:t>
            </a:r>
            <a:r>
              <a:rPr sz="1100" spc="14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algorithms</a:t>
            </a:r>
            <a:r>
              <a:rPr sz="1100" spc="1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F8FAFC"/>
                </a:solidFill>
                <a:latin typeface="Arial MT"/>
                <a:cs typeface="Arial MT"/>
              </a:rPr>
              <a:t>to</a:t>
            </a:r>
            <a:r>
              <a:rPr sz="1100" spc="1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heavily</a:t>
            </a:r>
            <a:r>
              <a:rPr sz="1100" spc="14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bias</a:t>
            </a:r>
            <a:r>
              <a:rPr sz="1100" spc="1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towards</a:t>
            </a:r>
            <a:r>
              <a:rPr sz="1100" spc="1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majority</a:t>
            </a:r>
            <a:r>
              <a:rPr sz="1100" spc="14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class</a:t>
            </a:r>
            <a:r>
              <a:rPr sz="1100" spc="1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predictions.</a:t>
            </a:r>
            <a:endParaRPr sz="1100">
              <a:latin typeface="Arial MT"/>
              <a:cs typeface="Arial MT"/>
            </a:endParaRPr>
          </a:p>
          <a:p>
            <a:pPr marL="189230" marR="5080" indent="-177165">
              <a:lnSpc>
                <a:spcPct val="103000"/>
              </a:lnSpc>
              <a:spcBef>
                <a:spcPts val="1245"/>
              </a:spcBef>
              <a:buFont typeface="Lucida Sans Unicode" panose="020B0602030504020204"/>
              <a:buChar char="□"/>
              <a:tabLst>
                <a:tab pos="189230" algn="l"/>
              </a:tabLst>
            </a:pPr>
            <a:r>
              <a:rPr sz="11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Operational</a:t>
            </a:r>
            <a:r>
              <a:rPr sz="1100" spc="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8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Delays</a:t>
            </a:r>
            <a:r>
              <a:rPr sz="1100" spc="9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in</a:t>
            </a:r>
            <a:r>
              <a:rPr sz="1100" spc="9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Credit</a:t>
            </a:r>
            <a:r>
              <a:rPr sz="1100" spc="9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Assessment:</a:t>
            </a:r>
            <a:r>
              <a:rPr sz="1100" spc="29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Legacy</a:t>
            </a:r>
            <a:r>
              <a:rPr sz="1100" spc="14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manual</a:t>
            </a:r>
            <a:r>
              <a:rPr sz="1100" spc="15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verification</a:t>
            </a:r>
            <a:r>
              <a:rPr sz="1100" spc="15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requires</a:t>
            </a:r>
            <a:r>
              <a:rPr sz="1100" spc="14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days</a:t>
            </a:r>
            <a:r>
              <a:rPr sz="1100" spc="15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F8FAFC"/>
                </a:solidFill>
                <a:latin typeface="Arial MT"/>
                <a:cs typeface="Arial MT"/>
              </a:rPr>
              <a:t>to</a:t>
            </a:r>
            <a:r>
              <a:rPr sz="1100" spc="15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process</a:t>
            </a:r>
            <a:r>
              <a:rPr sz="1100" spc="14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paperwork,</a:t>
            </a:r>
            <a:r>
              <a:rPr sz="1100" spc="1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causing</a:t>
            </a:r>
            <a:r>
              <a:rPr sz="1100" spc="14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severe</a:t>
            </a:r>
            <a:r>
              <a:rPr sz="1100" spc="15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friction</a:t>
            </a:r>
            <a:r>
              <a:rPr sz="1100" spc="15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8FAFC"/>
                </a:solidFill>
                <a:latin typeface="Arial MT"/>
                <a:cs typeface="Arial MT"/>
              </a:rPr>
              <a:t>in </a:t>
            </a:r>
            <a:r>
              <a:rPr sz="1100" spc="10" dirty="0">
                <a:solidFill>
                  <a:srgbClr val="F8FAFC"/>
                </a:solidFill>
                <a:latin typeface="Arial MT"/>
                <a:cs typeface="Arial MT"/>
              </a:rPr>
              <a:t>fintech</a:t>
            </a:r>
            <a:r>
              <a:rPr sz="1100" spc="114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F8FAFC"/>
                </a:solidFill>
                <a:latin typeface="Arial MT"/>
                <a:cs typeface="Arial MT"/>
              </a:rPr>
              <a:t>applications</a:t>
            </a:r>
            <a:r>
              <a:rPr sz="1100" spc="114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F8FAFC"/>
                </a:solidFill>
                <a:latin typeface="Arial MT"/>
                <a:cs typeface="Arial MT"/>
              </a:rPr>
              <a:t>where</a:t>
            </a:r>
            <a:r>
              <a:rPr sz="1100" spc="114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F8FAFC"/>
                </a:solidFill>
                <a:latin typeface="Arial MT"/>
                <a:cs typeface="Arial MT"/>
              </a:rPr>
              <a:t>real-time</a:t>
            </a:r>
            <a:r>
              <a:rPr sz="1100" spc="114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F8FAFC"/>
                </a:solidFill>
                <a:latin typeface="Arial MT"/>
                <a:cs typeface="Arial MT"/>
              </a:rPr>
              <a:t>decisions</a:t>
            </a:r>
            <a:r>
              <a:rPr sz="1100" spc="114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F8FAFC"/>
                </a:solidFill>
                <a:latin typeface="Arial MT"/>
                <a:cs typeface="Arial MT"/>
              </a:rPr>
              <a:t>are</a:t>
            </a:r>
            <a:r>
              <a:rPr sz="1100" spc="114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expected.</a:t>
            </a:r>
            <a:endParaRPr sz="1100">
              <a:latin typeface="Arial MT"/>
              <a:cs typeface="Arial MT"/>
            </a:endParaRPr>
          </a:p>
          <a:p>
            <a:pPr marL="189230" marR="5080" indent="-177165">
              <a:lnSpc>
                <a:spcPct val="103000"/>
              </a:lnSpc>
              <a:spcBef>
                <a:spcPts val="1250"/>
              </a:spcBef>
              <a:buFont typeface="Lucida Sans Unicode" panose="020B0602030504020204"/>
              <a:buChar char="□"/>
              <a:tabLst>
                <a:tab pos="189230" algn="l"/>
              </a:tabLst>
            </a:pPr>
            <a:r>
              <a:rPr sz="1100" spc="-9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Ensemble</a:t>
            </a:r>
            <a:r>
              <a:rPr sz="1100" spc="1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Objective:</a:t>
            </a:r>
            <a:r>
              <a:rPr sz="1100" spc="229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Combine</a:t>
            </a:r>
            <a:r>
              <a:rPr sz="1100" spc="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F8FAFC"/>
                </a:solidFill>
                <a:latin typeface="Arial MT"/>
                <a:cs typeface="Arial MT"/>
              </a:rPr>
              <a:t>SMOTE</a:t>
            </a:r>
            <a:r>
              <a:rPr sz="1100" spc="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oversampling</a:t>
            </a:r>
            <a:r>
              <a:rPr sz="1100" spc="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F8FAFC"/>
                </a:solidFill>
                <a:latin typeface="Arial MT"/>
                <a:cs typeface="Arial MT"/>
              </a:rPr>
              <a:t>with</a:t>
            </a:r>
            <a:r>
              <a:rPr sz="1100" spc="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regularized</a:t>
            </a:r>
            <a:r>
              <a:rPr sz="1100" spc="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boosting</a:t>
            </a:r>
            <a:r>
              <a:rPr sz="1100" spc="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and</a:t>
            </a:r>
            <a:r>
              <a:rPr sz="1100" spc="7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bagging</a:t>
            </a:r>
            <a:r>
              <a:rPr sz="1100" spc="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ensembles</a:t>
            </a:r>
            <a:r>
              <a:rPr sz="1100" spc="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F8FAFC"/>
                </a:solidFill>
                <a:latin typeface="Arial MT"/>
                <a:cs typeface="Arial MT"/>
              </a:rPr>
              <a:t>to</a:t>
            </a:r>
            <a:r>
              <a:rPr sz="1100" spc="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optimize</a:t>
            </a:r>
            <a:r>
              <a:rPr sz="1100" spc="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Precision,</a:t>
            </a:r>
            <a:r>
              <a:rPr sz="1100" spc="9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8FAFC"/>
                </a:solidFill>
                <a:latin typeface="Arial MT"/>
                <a:cs typeface="Arial MT"/>
              </a:rPr>
              <a:t>Recall,</a:t>
            </a:r>
            <a:r>
              <a:rPr sz="1100" spc="9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8FAFC"/>
                </a:solidFill>
                <a:latin typeface="Arial MT"/>
                <a:cs typeface="Arial MT"/>
              </a:rPr>
              <a:t>and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overall</a:t>
            </a:r>
            <a:r>
              <a:rPr sz="1100" spc="12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F8FAFC"/>
                </a:solidFill>
                <a:latin typeface="Arial MT"/>
                <a:cs typeface="Arial MT"/>
              </a:rPr>
              <a:t>ROC-</a:t>
            </a:r>
            <a:r>
              <a:rPr sz="1100" spc="-70" dirty="0">
                <a:solidFill>
                  <a:srgbClr val="F8FAFC"/>
                </a:solidFill>
                <a:latin typeface="Arial MT"/>
                <a:cs typeface="Arial MT"/>
              </a:rPr>
              <a:t>AUC</a:t>
            </a:r>
            <a:r>
              <a:rPr sz="1100" spc="12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metrics</a:t>
            </a:r>
            <a:r>
              <a:rPr sz="1100" spc="12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simultaneously.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8004" y="5380215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6324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Loan</a:t>
            </a:r>
            <a:r>
              <a:rPr spc="55" dirty="0"/>
              <a:t> </a:t>
            </a:r>
            <a:r>
              <a:rPr dirty="0"/>
              <a:t>Approval</a:t>
            </a:r>
            <a:r>
              <a:rPr spc="55" dirty="0"/>
              <a:t> </a:t>
            </a:r>
            <a:r>
              <a:rPr dirty="0"/>
              <a:t>Prediction</a:t>
            </a:r>
            <a:r>
              <a:rPr spc="55" dirty="0"/>
              <a:t> </a:t>
            </a:r>
            <a:r>
              <a:rPr dirty="0"/>
              <a:t>Using</a:t>
            </a:r>
            <a:r>
              <a:rPr spc="55" dirty="0"/>
              <a:t> </a:t>
            </a:r>
            <a:r>
              <a:rPr dirty="0"/>
              <a:t>Ensemble</a:t>
            </a:r>
            <a:r>
              <a:rPr spc="60" dirty="0"/>
              <a:t> </a:t>
            </a:r>
            <a:r>
              <a:rPr spc="-25" dirty="0"/>
              <a:t>ML</a:t>
            </a:r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Academic</a:t>
            </a:r>
            <a:r>
              <a:rPr spc="35" dirty="0"/>
              <a:t> </a:t>
            </a:r>
            <a:r>
              <a:rPr dirty="0"/>
              <a:t>Capstone</a:t>
            </a:r>
            <a:r>
              <a:rPr spc="35" dirty="0"/>
              <a:t> </a:t>
            </a:r>
            <a:r>
              <a:rPr spc="-10" dirty="0"/>
              <a:t>Presentation</a:t>
            </a:r>
            <a:endParaRPr spc="-1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Slide</a:t>
            </a:r>
            <a:r>
              <a:rPr spc="-30" dirty="0"/>
              <a:t> 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304" y="388560"/>
            <a:ext cx="1914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KL</a:t>
            </a:r>
            <a:r>
              <a:rPr sz="1000" spc="-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DEEMED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TO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BE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UNIVERSITY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83753" y="388560"/>
            <a:ext cx="36112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2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|</a:t>
            </a:r>
            <a:r>
              <a:rPr sz="1000" spc="20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DEPARTMENT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OF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COMPUTER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SCIENCE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ENGINEERING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51875" y="388560"/>
            <a:ext cx="1304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5" dirty="0">
                <a:solidFill>
                  <a:srgbClr val="93A3B8"/>
                </a:solidFill>
                <a:latin typeface="Arial MT"/>
                <a:cs typeface="Arial MT"/>
              </a:rPr>
              <a:t>B.TECH</a:t>
            </a:r>
            <a:r>
              <a:rPr sz="1000" spc="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14" dirty="0">
                <a:solidFill>
                  <a:srgbClr val="93A3B8"/>
                </a:solidFill>
                <a:latin typeface="Arial MT"/>
                <a:cs typeface="Arial MT"/>
              </a:rPr>
              <a:t>CSE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(2026–</a:t>
            </a:r>
            <a:r>
              <a:rPr sz="1000" spc="-25" dirty="0">
                <a:solidFill>
                  <a:srgbClr val="93A3B8"/>
                </a:solidFill>
                <a:latin typeface="Arial MT"/>
                <a:cs typeface="Arial MT"/>
              </a:rPr>
              <a:t>27)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8004" y="74540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10121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5304" y="828862"/>
            <a:ext cx="37699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6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Applicant</a:t>
            </a:r>
            <a:r>
              <a:rPr sz="1400" spc="-5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4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Attributes</a:t>
            </a:r>
            <a:r>
              <a:rPr sz="1400" spc="-5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1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400" spc="-5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7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Financial</a:t>
            </a:r>
            <a:r>
              <a:rPr sz="1400" spc="-5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Features</a:t>
            </a:r>
            <a:endParaRPr sz="14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8004" y="1284384"/>
            <a:ext cx="4510405" cy="1830705"/>
            <a:chOff x="648004" y="1284384"/>
            <a:chExt cx="4510405" cy="1830705"/>
          </a:xfrm>
        </p:grpSpPr>
        <p:sp>
          <p:nvSpPr>
            <p:cNvPr id="8" name="object 8"/>
            <p:cNvSpPr/>
            <p:nvPr/>
          </p:nvSpPr>
          <p:spPr>
            <a:xfrm>
              <a:off x="648004" y="1284384"/>
              <a:ext cx="4510405" cy="1830705"/>
            </a:xfrm>
            <a:custGeom>
              <a:avLst/>
              <a:gdLst/>
              <a:ahLst/>
              <a:cxnLst/>
              <a:rect l="l" t="t" r="r" b="b"/>
              <a:pathLst>
                <a:path w="4510405" h="1830705">
                  <a:moveTo>
                    <a:pt x="4389444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1709954"/>
                  </a:lnTo>
                  <a:lnTo>
                    <a:pt x="9481" y="1756918"/>
                  </a:lnTo>
                  <a:lnTo>
                    <a:pt x="35338" y="1795269"/>
                  </a:lnTo>
                  <a:lnTo>
                    <a:pt x="73689" y="1821126"/>
                  </a:lnTo>
                  <a:lnTo>
                    <a:pt x="120653" y="1830608"/>
                  </a:lnTo>
                  <a:lnTo>
                    <a:pt x="4389444" y="1830608"/>
                  </a:lnTo>
                  <a:lnTo>
                    <a:pt x="4436408" y="1821126"/>
                  </a:lnTo>
                  <a:lnTo>
                    <a:pt x="4474759" y="1795269"/>
                  </a:lnTo>
                  <a:lnTo>
                    <a:pt x="4500616" y="1756918"/>
                  </a:lnTo>
                  <a:lnTo>
                    <a:pt x="4510097" y="1709954"/>
                  </a:lnTo>
                  <a:lnTo>
                    <a:pt x="4510097" y="120653"/>
                  </a:lnTo>
                  <a:lnTo>
                    <a:pt x="4500616" y="73689"/>
                  </a:lnTo>
                  <a:lnTo>
                    <a:pt x="4474759" y="35338"/>
                  </a:lnTo>
                  <a:lnTo>
                    <a:pt x="4436408" y="9481"/>
                  </a:lnTo>
                  <a:lnTo>
                    <a:pt x="4389444" y="0"/>
                  </a:lnTo>
                  <a:close/>
                </a:path>
              </a:pathLst>
            </a:custGeom>
            <a:solidFill>
              <a:srgbClr val="368B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0657" y="1520237"/>
              <a:ext cx="4485005" cy="1582420"/>
            </a:xfrm>
            <a:custGeom>
              <a:avLst/>
              <a:gdLst/>
              <a:ahLst/>
              <a:cxnLst/>
              <a:rect l="l" t="t" r="r" b="b"/>
              <a:pathLst>
                <a:path w="4485005" h="1582420">
                  <a:moveTo>
                    <a:pt x="4484792" y="0"/>
                  </a:moveTo>
                  <a:lnTo>
                    <a:pt x="0" y="0"/>
                  </a:lnTo>
                  <a:lnTo>
                    <a:pt x="0" y="1474101"/>
                  </a:lnTo>
                  <a:lnTo>
                    <a:pt x="8487" y="1516140"/>
                  </a:lnTo>
                  <a:lnTo>
                    <a:pt x="31632" y="1550469"/>
                  </a:lnTo>
                  <a:lnTo>
                    <a:pt x="65961" y="1573615"/>
                  </a:lnTo>
                  <a:lnTo>
                    <a:pt x="108001" y="1582102"/>
                  </a:lnTo>
                  <a:lnTo>
                    <a:pt x="4376791" y="1582102"/>
                  </a:lnTo>
                  <a:lnTo>
                    <a:pt x="4418830" y="1573615"/>
                  </a:lnTo>
                  <a:lnTo>
                    <a:pt x="4453159" y="1550469"/>
                  </a:lnTo>
                  <a:lnTo>
                    <a:pt x="4476305" y="1516140"/>
                  </a:lnTo>
                  <a:lnTo>
                    <a:pt x="4484792" y="1474101"/>
                  </a:lnTo>
                  <a:lnTo>
                    <a:pt x="4484792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35786" y="1287105"/>
            <a:ext cx="24028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Applicant</a:t>
            </a:r>
            <a:r>
              <a:rPr sz="1100" spc="-4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7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Demographics</a:t>
            </a:r>
            <a:r>
              <a:rPr sz="1100" spc="-4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100" spc="-4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3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History</a:t>
            </a:r>
            <a:endParaRPr sz="1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5786" y="1636825"/>
            <a:ext cx="3991610" cy="1310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90"/>
              </a:spcBef>
              <a:buClr>
                <a:srgbClr val="38BDF8"/>
              </a:buClr>
              <a:buFont typeface="Lucida Sans Unicode" panose="020B0602030504020204"/>
              <a:buChar char="□"/>
              <a:tabLst>
                <a:tab pos="189865" algn="l"/>
              </a:tabLst>
            </a:pPr>
            <a:r>
              <a:rPr sz="1100" spc="-7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Applicant</a:t>
            </a:r>
            <a:r>
              <a:rPr sz="1100" spc="6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7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Age:</a:t>
            </a:r>
            <a:r>
              <a:rPr sz="1100" spc="21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Continuous</a:t>
            </a:r>
            <a:r>
              <a:rPr sz="1100" spc="12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numerical</a:t>
            </a:r>
            <a:r>
              <a:rPr sz="1100" spc="12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indicator.</a:t>
            </a:r>
            <a:endParaRPr sz="11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880"/>
              </a:spcBef>
              <a:buClr>
                <a:srgbClr val="38BDF8"/>
              </a:buClr>
              <a:buFont typeface="Lucida Sans Unicode" panose="020B0602030504020204"/>
              <a:buChar char="□"/>
              <a:tabLst>
                <a:tab pos="189865" algn="l"/>
              </a:tabLst>
            </a:pPr>
            <a:r>
              <a:rPr sz="1100" spc="-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Person</a:t>
            </a:r>
            <a:r>
              <a:rPr sz="1100" spc="9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6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Income:</a:t>
            </a:r>
            <a:r>
              <a:rPr sz="1100" spc="24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Annual</a:t>
            </a:r>
            <a:r>
              <a:rPr sz="1100" spc="14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earning</a:t>
            </a:r>
            <a:r>
              <a:rPr sz="1100" spc="15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power</a:t>
            </a:r>
            <a:r>
              <a:rPr sz="1100" spc="15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(log-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transformed).</a:t>
            </a:r>
            <a:endParaRPr sz="11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885"/>
              </a:spcBef>
              <a:buClr>
                <a:srgbClr val="38BDF8"/>
              </a:buClr>
              <a:buFont typeface="Lucida Sans Unicode" panose="020B0602030504020204"/>
              <a:buChar char="□"/>
              <a:tabLst>
                <a:tab pos="189865" algn="l"/>
              </a:tabLst>
            </a:pPr>
            <a:r>
              <a:rPr sz="1100" spc="-7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Employment</a:t>
            </a:r>
            <a:r>
              <a:rPr sz="1100" spc="5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3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Duration:</a:t>
            </a:r>
            <a:r>
              <a:rPr sz="1100" spc="20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Length</a:t>
            </a:r>
            <a:r>
              <a:rPr sz="1100" spc="12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F8FAFC"/>
                </a:solidFill>
                <a:latin typeface="Arial MT"/>
                <a:cs typeface="Arial MT"/>
              </a:rPr>
              <a:t>of</a:t>
            </a:r>
            <a:r>
              <a:rPr sz="1100" spc="114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employment</a:t>
            </a:r>
            <a:r>
              <a:rPr sz="1100" spc="114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history.</a:t>
            </a:r>
            <a:endParaRPr sz="11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880"/>
              </a:spcBef>
              <a:buClr>
                <a:srgbClr val="38BDF8"/>
              </a:buClr>
              <a:buFont typeface="Lucida Sans Unicode" panose="020B0602030504020204"/>
              <a:buChar char="□"/>
              <a:tabLst>
                <a:tab pos="189865" algn="l"/>
              </a:tabLst>
            </a:pPr>
            <a:r>
              <a:rPr sz="1100" spc="-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Home</a:t>
            </a:r>
            <a:r>
              <a:rPr sz="1100" spc="-6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5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Ownership:</a:t>
            </a:r>
            <a:r>
              <a:rPr sz="1100" spc="3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Categorical </a:t>
            </a:r>
            <a:r>
              <a:rPr sz="1100" spc="-70" dirty="0">
                <a:solidFill>
                  <a:srgbClr val="F8FAFC"/>
                </a:solidFill>
                <a:latin typeface="Arial MT"/>
                <a:cs typeface="Arial MT"/>
              </a:rPr>
              <a:t>(RENT,</a:t>
            </a:r>
            <a:r>
              <a:rPr sz="1100" spc="-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OWN,</a:t>
            </a:r>
            <a:r>
              <a:rPr sz="1100" spc="-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MORTGAGE).</a:t>
            </a:r>
            <a:endParaRPr sz="11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880"/>
              </a:spcBef>
              <a:buClr>
                <a:srgbClr val="38BDF8"/>
              </a:buClr>
              <a:buFont typeface="Lucida Sans Unicode" panose="020B0602030504020204"/>
              <a:buChar char="□"/>
              <a:tabLst>
                <a:tab pos="189865" algn="l"/>
              </a:tabLst>
            </a:pPr>
            <a:r>
              <a:rPr sz="1100" spc="-7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Historical</a:t>
            </a:r>
            <a:r>
              <a:rPr sz="1100" spc="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4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Default:</a:t>
            </a:r>
            <a:r>
              <a:rPr sz="1100" spc="13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Binary</a:t>
            </a:r>
            <a:r>
              <a:rPr sz="1100" spc="6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record</a:t>
            </a:r>
            <a:r>
              <a:rPr sz="1100" spc="6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F8FAFC"/>
                </a:solidFill>
                <a:latin typeface="Arial MT"/>
                <a:cs typeface="Arial MT"/>
              </a:rPr>
              <a:t>of</a:t>
            </a:r>
            <a:r>
              <a:rPr sz="1100" spc="7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past</a:t>
            </a:r>
            <a:r>
              <a:rPr sz="1100" spc="6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credit</a:t>
            </a:r>
            <a:r>
              <a:rPr sz="1100" spc="6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defaults.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533961" y="1327610"/>
            <a:ext cx="4510405" cy="1787525"/>
            <a:chOff x="5533961" y="1327610"/>
            <a:chExt cx="4510405" cy="1787525"/>
          </a:xfrm>
        </p:grpSpPr>
        <p:sp>
          <p:nvSpPr>
            <p:cNvPr id="13" name="object 13"/>
            <p:cNvSpPr/>
            <p:nvPr/>
          </p:nvSpPr>
          <p:spPr>
            <a:xfrm>
              <a:off x="5533961" y="1327610"/>
              <a:ext cx="4510405" cy="1787525"/>
            </a:xfrm>
            <a:custGeom>
              <a:avLst/>
              <a:gdLst/>
              <a:ahLst/>
              <a:cxnLst/>
              <a:rect l="l" t="t" r="r" b="b"/>
              <a:pathLst>
                <a:path w="4510405" h="1787525">
                  <a:moveTo>
                    <a:pt x="4389444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1666727"/>
                  </a:lnTo>
                  <a:lnTo>
                    <a:pt x="9481" y="1713691"/>
                  </a:lnTo>
                  <a:lnTo>
                    <a:pt x="35338" y="1752043"/>
                  </a:lnTo>
                  <a:lnTo>
                    <a:pt x="73689" y="1777900"/>
                  </a:lnTo>
                  <a:lnTo>
                    <a:pt x="120653" y="1787381"/>
                  </a:lnTo>
                  <a:lnTo>
                    <a:pt x="4389444" y="1787381"/>
                  </a:lnTo>
                  <a:lnTo>
                    <a:pt x="4436408" y="1777900"/>
                  </a:lnTo>
                  <a:lnTo>
                    <a:pt x="4474759" y="1752043"/>
                  </a:lnTo>
                  <a:lnTo>
                    <a:pt x="4500616" y="1713691"/>
                  </a:lnTo>
                  <a:lnTo>
                    <a:pt x="4510097" y="1666727"/>
                  </a:lnTo>
                  <a:lnTo>
                    <a:pt x="4510097" y="120653"/>
                  </a:lnTo>
                  <a:lnTo>
                    <a:pt x="4500616" y="73689"/>
                  </a:lnTo>
                  <a:lnTo>
                    <a:pt x="4474759" y="35338"/>
                  </a:lnTo>
                  <a:lnTo>
                    <a:pt x="4436408" y="9481"/>
                  </a:lnTo>
                  <a:lnTo>
                    <a:pt x="4389444" y="0"/>
                  </a:lnTo>
                  <a:close/>
                </a:path>
              </a:pathLst>
            </a:custGeom>
            <a:solidFill>
              <a:srgbClr val="3398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546614" y="1531598"/>
              <a:ext cx="4485005" cy="1570990"/>
            </a:xfrm>
            <a:custGeom>
              <a:avLst/>
              <a:gdLst/>
              <a:ahLst/>
              <a:cxnLst/>
              <a:rect l="l" t="t" r="r" b="b"/>
              <a:pathLst>
                <a:path w="4485005" h="1570989">
                  <a:moveTo>
                    <a:pt x="4484792" y="0"/>
                  </a:moveTo>
                  <a:lnTo>
                    <a:pt x="0" y="0"/>
                  </a:lnTo>
                  <a:lnTo>
                    <a:pt x="0" y="1462740"/>
                  </a:lnTo>
                  <a:lnTo>
                    <a:pt x="8487" y="1504779"/>
                  </a:lnTo>
                  <a:lnTo>
                    <a:pt x="31632" y="1539108"/>
                  </a:lnTo>
                  <a:lnTo>
                    <a:pt x="65961" y="1562254"/>
                  </a:lnTo>
                  <a:lnTo>
                    <a:pt x="108001" y="1570741"/>
                  </a:lnTo>
                  <a:lnTo>
                    <a:pt x="4376791" y="1570741"/>
                  </a:lnTo>
                  <a:lnTo>
                    <a:pt x="4418830" y="1562254"/>
                  </a:lnTo>
                  <a:lnTo>
                    <a:pt x="4453159" y="1539108"/>
                  </a:lnTo>
                  <a:lnTo>
                    <a:pt x="4476305" y="1504779"/>
                  </a:lnTo>
                  <a:lnTo>
                    <a:pt x="4484792" y="1462740"/>
                  </a:lnTo>
                  <a:lnTo>
                    <a:pt x="4484792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721743" y="1330336"/>
            <a:ext cx="3989070" cy="16281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33D299"/>
                </a:solidFill>
                <a:latin typeface="Arial Black" panose="020B0A04020102020204"/>
                <a:cs typeface="Arial Black" panose="020B0A04020102020204"/>
              </a:rPr>
              <a:t>Financial</a:t>
            </a:r>
            <a:r>
              <a:rPr sz="1100" spc="-55" dirty="0">
                <a:solidFill>
                  <a:srgbClr val="33D29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70" dirty="0">
                <a:solidFill>
                  <a:srgbClr val="33D299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100" spc="-50" dirty="0">
                <a:solidFill>
                  <a:srgbClr val="33D29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80" dirty="0">
                <a:solidFill>
                  <a:srgbClr val="33D299"/>
                </a:solidFill>
                <a:latin typeface="Arial Black" panose="020B0A04020102020204"/>
                <a:cs typeface="Arial Black" panose="020B0A04020102020204"/>
              </a:rPr>
              <a:t>Loan</a:t>
            </a:r>
            <a:r>
              <a:rPr sz="1100" spc="-55" dirty="0">
                <a:solidFill>
                  <a:srgbClr val="33D29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33D299"/>
                </a:solidFill>
                <a:latin typeface="Arial Black" panose="020B0A04020102020204"/>
                <a:cs typeface="Arial Black" panose="020B0A04020102020204"/>
              </a:rPr>
              <a:t>Attributes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89865" indent="-177165">
              <a:lnSpc>
                <a:spcPct val="100000"/>
              </a:lnSpc>
              <a:spcBef>
                <a:spcPts val="1180"/>
              </a:spcBef>
              <a:buClr>
                <a:srgbClr val="38BDF8"/>
              </a:buClr>
              <a:buFont typeface="Lucida Sans Unicode" panose="020B0602030504020204"/>
              <a:buChar char="□"/>
              <a:tabLst>
                <a:tab pos="189865" algn="l"/>
              </a:tabLst>
            </a:pPr>
            <a:r>
              <a:rPr sz="1100" spc="-8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Requested</a:t>
            </a:r>
            <a:r>
              <a:rPr sz="1100" spc="-5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8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Loan</a:t>
            </a:r>
            <a:r>
              <a:rPr sz="1100" spc="-5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3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Amount:</a:t>
            </a:r>
            <a:r>
              <a:rPr sz="1100" spc="5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Total</a:t>
            </a:r>
            <a:r>
              <a:rPr sz="1100" spc="1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capital</a:t>
            </a:r>
            <a:r>
              <a:rPr sz="1100" spc="1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requested.</a:t>
            </a:r>
            <a:endParaRPr sz="11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885"/>
              </a:spcBef>
              <a:buClr>
                <a:srgbClr val="38BDF8"/>
              </a:buClr>
              <a:buFont typeface="Lucida Sans Unicode" panose="020B0602030504020204"/>
              <a:buChar char="□"/>
              <a:tabLst>
                <a:tab pos="189865" algn="l"/>
              </a:tabLst>
            </a:pPr>
            <a:r>
              <a:rPr sz="1100" spc="-8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Loan</a:t>
            </a:r>
            <a:r>
              <a:rPr sz="1100" spc="-2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2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Intent:</a:t>
            </a:r>
            <a:r>
              <a:rPr sz="1100" spc="10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Purpose</a:t>
            </a:r>
            <a:r>
              <a:rPr sz="1100" spc="4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(Education,</a:t>
            </a:r>
            <a:r>
              <a:rPr sz="1100" spc="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Medical,</a:t>
            </a:r>
            <a:r>
              <a:rPr sz="1100" spc="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Venture).</a:t>
            </a:r>
            <a:endParaRPr sz="11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880"/>
              </a:spcBef>
              <a:buClr>
                <a:srgbClr val="38BDF8"/>
              </a:buClr>
              <a:buFont typeface="Lucida Sans Unicode" panose="020B0602030504020204"/>
              <a:buChar char="□"/>
              <a:tabLst>
                <a:tab pos="189865" algn="l"/>
              </a:tabLst>
            </a:pPr>
            <a:r>
              <a:rPr sz="1100" spc="-8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Loan</a:t>
            </a:r>
            <a:r>
              <a:rPr sz="1100" spc="-1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Grade:</a:t>
            </a:r>
            <a:r>
              <a:rPr sz="1100" spc="11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Ordinal</a:t>
            </a:r>
            <a:r>
              <a:rPr sz="1100" spc="5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credit</a:t>
            </a:r>
            <a:r>
              <a:rPr sz="1100" spc="50" dirty="0">
                <a:solidFill>
                  <a:srgbClr val="F8FAFC"/>
                </a:solidFill>
                <a:latin typeface="Arial MT"/>
                <a:cs typeface="Arial MT"/>
              </a:rPr>
              <a:t> rating</a:t>
            </a:r>
            <a:r>
              <a:rPr sz="1100" spc="4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(Grades</a:t>
            </a:r>
            <a:r>
              <a:rPr sz="1100" spc="5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F8FAFC"/>
                </a:solidFill>
                <a:latin typeface="Arial MT"/>
                <a:cs typeface="Arial MT"/>
              </a:rPr>
              <a:t>A–</a:t>
            </a:r>
            <a:r>
              <a:rPr sz="1100" spc="-25" dirty="0">
                <a:solidFill>
                  <a:srgbClr val="F8FAFC"/>
                </a:solidFill>
                <a:latin typeface="Arial MT"/>
                <a:cs typeface="Arial MT"/>
              </a:rPr>
              <a:t>G).</a:t>
            </a:r>
            <a:endParaRPr sz="11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880"/>
              </a:spcBef>
              <a:buClr>
                <a:srgbClr val="38BDF8"/>
              </a:buClr>
              <a:buFont typeface="Lucida Sans Unicode" panose="020B0602030504020204"/>
              <a:buChar char="□"/>
              <a:tabLst>
                <a:tab pos="189865" algn="l"/>
              </a:tabLst>
            </a:pPr>
            <a:r>
              <a:rPr sz="1100" spc="-6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Interest</a:t>
            </a:r>
            <a:r>
              <a:rPr sz="1100" spc="3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Rate:</a:t>
            </a:r>
            <a:r>
              <a:rPr sz="1100" spc="17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Applied</a:t>
            </a:r>
            <a:r>
              <a:rPr sz="1100" spc="9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loan</a:t>
            </a:r>
            <a:r>
              <a:rPr sz="1100" spc="9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percentage</a:t>
            </a:r>
            <a:r>
              <a:rPr sz="1100" spc="9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rate.</a:t>
            </a:r>
            <a:endParaRPr sz="1100">
              <a:latin typeface="Arial MT"/>
              <a:cs typeface="Arial MT"/>
            </a:endParaRPr>
          </a:p>
          <a:p>
            <a:pPr marL="189865" indent="-177165">
              <a:lnSpc>
                <a:spcPct val="100000"/>
              </a:lnSpc>
              <a:spcBef>
                <a:spcPts val="885"/>
              </a:spcBef>
              <a:buClr>
                <a:srgbClr val="38BDF8"/>
              </a:buClr>
              <a:buFont typeface="Lucida Sans Unicode" panose="020B0602030504020204"/>
              <a:buChar char="□"/>
              <a:tabLst>
                <a:tab pos="189865" algn="l"/>
              </a:tabLst>
            </a:pPr>
            <a:r>
              <a:rPr sz="1100" spc="-6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Debt-</a:t>
            </a:r>
            <a:r>
              <a:rPr sz="1100" spc="-5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to-</a:t>
            </a:r>
            <a:r>
              <a:rPr sz="1100" spc="-6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Income</a:t>
            </a:r>
            <a:r>
              <a:rPr sz="1100" spc="1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8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(DTI)</a:t>
            </a:r>
            <a:r>
              <a:rPr sz="1100" spc="2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6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Ratio:</a:t>
            </a:r>
            <a:r>
              <a:rPr sz="1100" spc="14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Derived</a:t>
            </a:r>
            <a:r>
              <a:rPr sz="1100" spc="8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financial</a:t>
            </a:r>
            <a:r>
              <a:rPr sz="1100" spc="7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risk</a:t>
            </a:r>
            <a:r>
              <a:rPr sz="1100" spc="7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metric.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8004" y="5380215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6324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Loan</a:t>
            </a:r>
            <a:r>
              <a:rPr spc="55" dirty="0"/>
              <a:t> </a:t>
            </a:r>
            <a:r>
              <a:rPr dirty="0"/>
              <a:t>Approval</a:t>
            </a:r>
            <a:r>
              <a:rPr spc="55" dirty="0"/>
              <a:t> </a:t>
            </a:r>
            <a:r>
              <a:rPr dirty="0"/>
              <a:t>Prediction</a:t>
            </a:r>
            <a:r>
              <a:rPr spc="55" dirty="0"/>
              <a:t> </a:t>
            </a:r>
            <a:r>
              <a:rPr dirty="0"/>
              <a:t>Using</a:t>
            </a:r>
            <a:r>
              <a:rPr spc="55" dirty="0"/>
              <a:t> </a:t>
            </a:r>
            <a:r>
              <a:rPr dirty="0"/>
              <a:t>Ensemble</a:t>
            </a:r>
            <a:r>
              <a:rPr spc="60" dirty="0"/>
              <a:t> </a:t>
            </a:r>
            <a:r>
              <a:rPr spc="-25" dirty="0"/>
              <a:t>ML</a:t>
            </a:r>
            <a:endParaRPr spc="-25" dirty="0"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Academic</a:t>
            </a:r>
            <a:r>
              <a:rPr spc="35" dirty="0"/>
              <a:t> </a:t>
            </a:r>
            <a:r>
              <a:rPr dirty="0"/>
              <a:t>Capstone</a:t>
            </a:r>
            <a:r>
              <a:rPr spc="35" dirty="0"/>
              <a:t> </a:t>
            </a:r>
            <a:r>
              <a:rPr spc="-10" dirty="0"/>
              <a:t>Presentation</a:t>
            </a:r>
            <a:endParaRPr spc="-10" dirty="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Slide</a:t>
            </a:r>
            <a:r>
              <a:rPr spc="-30" dirty="0"/>
              <a:t> 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304" y="388560"/>
            <a:ext cx="1914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KL</a:t>
            </a:r>
            <a:r>
              <a:rPr sz="1000" spc="-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DEEMED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TO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BE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UNIVERSITY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83753" y="388560"/>
            <a:ext cx="36112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2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|</a:t>
            </a:r>
            <a:r>
              <a:rPr sz="1000" spc="20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DEPARTMENT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OF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COMPUTER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SCIENCE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ENGINEERING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51875" y="388560"/>
            <a:ext cx="1304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5" dirty="0">
                <a:solidFill>
                  <a:srgbClr val="93A3B8"/>
                </a:solidFill>
                <a:latin typeface="Arial MT"/>
                <a:cs typeface="Arial MT"/>
              </a:rPr>
              <a:t>B.TECH</a:t>
            </a:r>
            <a:r>
              <a:rPr sz="1000" spc="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14" dirty="0">
                <a:solidFill>
                  <a:srgbClr val="93A3B8"/>
                </a:solidFill>
                <a:latin typeface="Arial MT"/>
                <a:cs typeface="Arial MT"/>
              </a:rPr>
              <a:t>CSE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(2026–</a:t>
            </a:r>
            <a:r>
              <a:rPr sz="1000" spc="-25" dirty="0">
                <a:solidFill>
                  <a:srgbClr val="93A3B8"/>
                </a:solidFill>
                <a:latin typeface="Arial MT"/>
                <a:cs typeface="Arial MT"/>
              </a:rPr>
              <a:t>27)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8004" y="74540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10121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5304" y="828862"/>
            <a:ext cx="38931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Data</a:t>
            </a:r>
            <a:r>
              <a:rPr sz="1400" spc="-8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6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Pipeline</a:t>
            </a:r>
            <a:r>
              <a:rPr sz="1400" spc="-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1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400" spc="-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14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SMOTE</a:t>
            </a:r>
            <a:r>
              <a:rPr sz="1400" spc="-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7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Synthetic</a:t>
            </a:r>
            <a:r>
              <a:rPr sz="1400" spc="-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3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Sampling</a:t>
            </a:r>
            <a:endParaRPr sz="14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8004" y="1313617"/>
            <a:ext cx="3007360" cy="1177925"/>
            <a:chOff x="648004" y="1313617"/>
            <a:chExt cx="3007360" cy="1177925"/>
          </a:xfrm>
        </p:grpSpPr>
        <p:sp>
          <p:nvSpPr>
            <p:cNvPr id="8" name="object 8"/>
            <p:cNvSpPr/>
            <p:nvPr/>
          </p:nvSpPr>
          <p:spPr>
            <a:xfrm>
              <a:off x="648004" y="1313617"/>
              <a:ext cx="3007360" cy="1177925"/>
            </a:xfrm>
            <a:custGeom>
              <a:avLst/>
              <a:gdLst/>
              <a:ahLst/>
              <a:cxnLst/>
              <a:rect l="l" t="t" r="r" b="b"/>
              <a:pathLst>
                <a:path w="3007360" h="1177925">
                  <a:moveTo>
                    <a:pt x="2886173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1056947"/>
                  </a:lnTo>
                  <a:lnTo>
                    <a:pt x="9481" y="1103911"/>
                  </a:lnTo>
                  <a:lnTo>
                    <a:pt x="35338" y="1142263"/>
                  </a:lnTo>
                  <a:lnTo>
                    <a:pt x="73689" y="1168119"/>
                  </a:lnTo>
                  <a:lnTo>
                    <a:pt x="120653" y="1177601"/>
                  </a:lnTo>
                  <a:lnTo>
                    <a:pt x="2886173" y="1177601"/>
                  </a:lnTo>
                  <a:lnTo>
                    <a:pt x="2933137" y="1168119"/>
                  </a:lnTo>
                  <a:lnTo>
                    <a:pt x="2971488" y="1142263"/>
                  </a:lnTo>
                  <a:lnTo>
                    <a:pt x="2997345" y="1103911"/>
                  </a:lnTo>
                  <a:lnTo>
                    <a:pt x="3006827" y="1056947"/>
                  </a:lnTo>
                  <a:lnTo>
                    <a:pt x="3006827" y="120653"/>
                  </a:lnTo>
                  <a:lnTo>
                    <a:pt x="2997345" y="73689"/>
                  </a:lnTo>
                  <a:lnTo>
                    <a:pt x="2971488" y="35338"/>
                  </a:lnTo>
                  <a:lnTo>
                    <a:pt x="2933137" y="9481"/>
                  </a:lnTo>
                  <a:lnTo>
                    <a:pt x="2886173" y="0"/>
                  </a:lnTo>
                  <a:close/>
                </a:path>
              </a:pathLst>
            </a:custGeom>
            <a:solidFill>
              <a:srgbClr val="3340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0657" y="1549470"/>
              <a:ext cx="2981960" cy="929640"/>
            </a:xfrm>
            <a:custGeom>
              <a:avLst/>
              <a:gdLst/>
              <a:ahLst/>
              <a:cxnLst/>
              <a:rect l="l" t="t" r="r" b="b"/>
              <a:pathLst>
                <a:path w="2981960" h="929639">
                  <a:moveTo>
                    <a:pt x="2981522" y="0"/>
                  </a:moveTo>
                  <a:lnTo>
                    <a:pt x="0" y="0"/>
                  </a:lnTo>
                  <a:lnTo>
                    <a:pt x="0" y="821094"/>
                  </a:lnTo>
                  <a:lnTo>
                    <a:pt x="8487" y="863133"/>
                  </a:lnTo>
                  <a:lnTo>
                    <a:pt x="31632" y="897462"/>
                  </a:lnTo>
                  <a:lnTo>
                    <a:pt x="65961" y="920608"/>
                  </a:lnTo>
                  <a:lnTo>
                    <a:pt x="108001" y="929095"/>
                  </a:lnTo>
                  <a:lnTo>
                    <a:pt x="2873520" y="929095"/>
                  </a:lnTo>
                  <a:lnTo>
                    <a:pt x="2915559" y="920608"/>
                  </a:lnTo>
                  <a:lnTo>
                    <a:pt x="2949889" y="897462"/>
                  </a:lnTo>
                  <a:lnTo>
                    <a:pt x="2973034" y="863133"/>
                  </a:lnTo>
                  <a:lnTo>
                    <a:pt x="2981522" y="821094"/>
                  </a:lnTo>
                  <a:lnTo>
                    <a:pt x="2981522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35786" y="1316328"/>
            <a:ext cx="2631440" cy="10363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1.</a:t>
            </a:r>
            <a:r>
              <a:rPr sz="1100" spc="3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4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Imputation</a:t>
            </a:r>
            <a:r>
              <a:rPr sz="11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100" spc="-6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Scaling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 marR="5080">
              <a:lnSpc>
                <a:spcPct val="100000"/>
              </a:lnSpc>
              <a:spcBef>
                <a:spcPts val="1460"/>
              </a:spcBef>
            </a:pPr>
            <a:r>
              <a:rPr sz="1000" dirty="0">
                <a:solidFill>
                  <a:srgbClr val="F8FAFC"/>
                </a:solidFill>
                <a:latin typeface="Arial MT"/>
                <a:cs typeface="Arial MT"/>
              </a:rPr>
              <a:t>Missing</a:t>
            </a:r>
            <a:r>
              <a:rPr sz="1000" spc="39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8FAFC"/>
                </a:solidFill>
                <a:latin typeface="Arial MT"/>
                <a:cs typeface="Arial MT"/>
              </a:rPr>
              <a:t>values</a:t>
            </a:r>
            <a:r>
              <a:rPr sz="1000" spc="39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8FAFC"/>
                </a:solidFill>
                <a:latin typeface="Arial MT"/>
                <a:cs typeface="Arial MT"/>
              </a:rPr>
              <a:t>in</a:t>
            </a:r>
            <a:r>
              <a:rPr sz="1000" spc="39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8FAFC"/>
                </a:solidFill>
                <a:latin typeface="Arial MT"/>
                <a:cs typeface="Arial MT"/>
              </a:rPr>
              <a:t>continuous</a:t>
            </a:r>
            <a:r>
              <a:rPr sz="1000" spc="39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8FAFC"/>
                </a:solidFill>
                <a:latin typeface="Arial MT"/>
                <a:cs typeface="Arial MT"/>
              </a:rPr>
              <a:t>columns</a:t>
            </a:r>
            <a:r>
              <a:rPr sz="1000" spc="39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F8FAFC"/>
                </a:solidFill>
                <a:latin typeface="Arial MT"/>
                <a:cs typeface="Arial MT"/>
              </a:rPr>
              <a:t>im-</a:t>
            </a:r>
            <a:r>
              <a:rPr sz="1000" spc="50" dirty="0">
                <a:solidFill>
                  <a:srgbClr val="F8FAFC"/>
                </a:solidFill>
                <a:latin typeface="Arial MT"/>
                <a:cs typeface="Arial MT"/>
              </a:rPr>
              <a:t>puted</a:t>
            </a:r>
            <a:r>
              <a:rPr sz="1000" spc="8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8FAFC"/>
                </a:solidFill>
                <a:latin typeface="Arial MT"/>
                <a:cs typeface="Arial MT"/>
              </a:rPr>
              <a:t>using</a:t>
            </a:r>
            <a:r>
              <a:rPr sz="1000" spc="8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8FAFC"/>
                </a:solidFill>
                <a:latin typeface="Arial MT"/>
                <a:cs typeface="Arial MT"/>
              </a:rPr>
              <a:t>KNNImputer.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390"/>
              </a:spcBef>
            </a:pP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Scaled vectors </a:t>
            </a:r>
            <a:r>
              <a:rPr sz="1000" spc="55" dirty="0">
                <a:solidFill>
                  <a:srgbClr val="93A3B8"/>
                </a:solidFill>
                <a:latin typeface="Arial MT"/>
                <a:cs typeface="Arial MT"/>
              </a:rPr>
              <a:t>with</a:t>
            </a:r>
            <a:r>
              <a:rPr sz="1000" spc="4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RobustScaler </a:t>
            </a:r>
            <a:r>
              <a:rPr sz="1000" spc="65" dirty="0">
                <a:solidFill>
                  <a:srgbClr val="93A3B8"/>
                </a:solidFill>
                <a:latin typeface="Arial MT"/>
                <a:cs typeface="Arial MT"/>
              </a:rPr>
              <a:t>to</a:t>
            </a:r>
            <a:r>
              <a:rPr sz="1000" spc="4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neutral-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ize</a:t>
            </a:r>
            <a:r>
              <a:rPr sz="1000" spc="10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financial</a:t>
            </a:r>
            <a:r>
              <a:rPr sz="1000" spc="11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outliers.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42600" y="1295397"/>
            <a:ext cx="3007360" cy="1196340"/>
            <a:chOff x="3842600" y="1295397"/>
            <a:chExt cx="3007360" cy="1196340"/>
          </a:xfrm>
        </p:grpSpPr>
        <p:sp>
          <p:nvSpPr>
            <p:cNvPr id="12" name="object 12"/>
            <p:cNvSpPr/>
            <p:nvPr/>
          </p:nvSpPr>
          <p:spPr>
            <a:xfrm>
              <a:off x="3842600" y="1295397"/>
              <a:ext cx="3007360" cy="1196340"/>
            </a:xfrm>
            <a:custGeom>
              <a:avLst/>
              <a:gdLst/>
              <a:ahLst/>
              <a:cxnLst/>
              <a:rect l="l" t="t" r="r" b="b"/>
              <a:pathLst>
                <a:path w="3007359" h="1196339">
                  <a:moveTo>
                    <a:pt x="2886173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1075167"/>
                  </a:lnTo>
                  <a:lnTo>
                    <a:pt x="9481" y="1122131"/>
                  </a:lnTo>
                  <a:lnTo>
                    <a:pt x="35338" y="1160482"/>
                  </a:lnTo>
                  <a:lnTo>
                    <a:pt x="73689" y="1186339"/>
                  </a:lnTo>
                  <a:lnTo>
                    <a:pt x="120653" y="1195821"/>
                  </a:lnTo>
                  <a:lnTo>
                    <a:pt x="2886173" y="1195821"/>
                  </a:lnTo>
                  <a:lnTo>
                    <a:pt x="2933137" y="1186339"/>
                  </a:lnTo>
                  <a:lnTo>
                    <a:pt x="2971488" y="1160482"/>
                  </a:lnTo>
                  <a:lnTo>
                    <a:pt x="2997345" y="1122131"/>
                  </a:lnTo>
                  <a:lnTo>
                    <a:pt x="3006827" y="1075167"/>
                  </a:lnTo>
                  <a:lnTo>
                    <a:pt x="3006827" y="120653"/>
                  </a:lnTo>
                  <a:lnTo>
                    <a:pt x="2997345" y="73689"/>
                  </a:lnTo>
                  <a:lnTo>
                    <a:pt x="2971488" y="35338"/>
                  </a:lnTo>
                  <a:lnTo>
                    <a:pt x="2933137" y="9481"/>
                  </a:lnTo>
                  <a:lnTo>
                    <a:pt x="2886173" y="0"/>
                  </a:lnTo>
                  <a:close/>
                </a:path>
              </a:pathLst>
            </a:custGeom>
            <a:solidFill>
              <a:srgbClr val="3340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855253" y="1531250"/>
              <a:ext cx="2981960" cy="947419"/>
            </a:xfrm>
            <a:custGeom>
              <a:avLst/>
              <a:gdLst/>
              <a:ahLst/>
              <a:cxnLst/>
              <a:rect l="l" t="t" r="r" b="b"/>
              <a:pathLst>
                <a:path w="2981959" h="947419">
                  <a:moveTo>
                    <a:pt x="2981522" y="0"/>
                  </a:moveTo>
                  <a:lnTo>
                    <a:pt x="0" y="0"/>
                  </a:lnTo>
                  <a:lnTo>
                    <a:pt x="0" y="839314"/>
                  </a:lnTo>
                  <a:lnTo>
                    <a:pt x="8487" y="881353"/>
                  </a:lnTo>
                  <a:lnTo>
                    <a:pt x="31632" y="915682"/>
                  </a:lnTo>
                  <a:lnTo>
                    <a:pt x="65961" y="938828"/>
                  </a:lnTo>
                  <a:lnTo>
                    <a:pt x="108001" y="947315"/>
                  </a:lnTo>
                  <a:lnTo>
                    <a:pt x="2873520" y="947315"/>
                  </a:lnTo>
                  <a:lnTo>
                    <a:pt x="2915559" y="938828"/>
                  </a:lnTo>
                  <a:lnTo>
                    <a:pt x="2949889" y="915682"/>
                  </a:lnTo>
                  <a:lnTo>
                    <a:pt x="2973034" y="881353"/>
                  </a:lnTo>
                  <a:lnTo>
                    <a:pt x="2981522" y="839314"/>
                  </a:lnTo>
                  <a:lnTo>
                    <a:pt x="2981522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030383" y="1298116"/>
            <a:ext cx="16522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2.</a:t>
            </a:r>
            <a:r>
              <a:rPr sz="1100" spc="3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7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Categorical</a:t>
            </a:r>
            <a:r>
              <a:rPr sz="1100" spc="-6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Encoding</a:t>
            </a:r>
            <a:endParaRPr sz="1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30383" y="1650724"/>
            <a:ext cx="2631440" cy="683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8FAFC"/>
                </a:solidFill>
                <a:latin typeface="Arial MT"/>
                <a:cs typeface="Arial MT"/>
              </a:rPr>
              <a:t>One-Hot</a:t>
            </a:r>
            <a:r>
              <a:rPr sz="1000" spc="28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8FAFC"/>
                </a:solidFill>
                <a:latin typeface="Arial MT"/>
                <a:cs typeface="Arial MT"/>
              </a:rPr>
              <a:t>Encoding</a:t>
            </a:r>
            <a:r>
              <a:rPr sz="1000" spc="28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8FAFC"/>
                </a:solidFill>
                <a:latin typeface="Arial MT"/>
                <a:cs typeface="Arial MT"/>
              </a:rPr>
              <a:t>applied</a:t>
            </a:r>
            <a:r>
              <a:rPr sz="1000" spc="28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000" spc="65" dirty="0">
                <a:solidFill>
                  <a:srgbClr val="F8FAFC"/>
                </a:solidFill>
                <a:latin typeface="Arial MT"/>
                <a:cs typeface="Arial MT"/>
              </a:rPr>
              <a:t>to</a:t>
            </a:r>
            <a:r>
              <a:rPr sz="1000" spc="29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8FAFC"/>
                </a:solidFill>
                <a:latin typeface="Arial MT"/>
                <a:cs typeface="Arial MT"/>
              </a:rPr>
              <a:t>nominal</a:t>
            </a:r>
            <a:r>
              <a:rPr sz="1000" spc="28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8FAFC"/>
                </a:solidFill>
                <a:latin typeface="Arial MT"/>
                <a:cs typeface="Arial MT"/>
              </a:rPr>
              <a:t>vari-</a:t>
            </a:r>
            <a:r>
              <a:rPr sz="1000" spc="10" dirty="0">
                <a:solidFill>
                  <a:srgbClr val="F8FAFC"/>
                </a:solidFill>
                <a:latin typeface="Arial MT"/>
                <a:cs typeface="Arial MT"/>
              </a:rPr>
              <a:t>ables</a:t>
            </a:r>
            <a:r>
              <a:rPr sz="1000" spc="6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F8FAFC"/>
                </a:solidFill>
                <a:latin typeface="Arial MT"/>
                <a:cs typeface="Arial MT"/>
              </a:rPr>
              <a:t>(Home</a:t>
            </a:r>
            <a:r>
              <a:rPr sz="1000" spc="6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F8FAFC"/>
                </a:solidFill>
                <a:latin typeface="Arial MT"/>
                <a:cs typeface="Arial MT"/>
              </a:rPr>
              <a:t>Ownership,</a:t>
            </a:r>
            <a:r>
              <a:rPr sz="1000" spc="6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F8FAFC"/>
                </a:solidFill>
                <a:latin typeface="Arial MT"/>
                <a:cs typeface="Arial MT"/>
              </a:rPr>
              <a:t>Loan</a:t>
            </a:r>
            <a:r>
              <a:rPr sz="1000" spc="6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8FAFC"/>
                </a:solidFill>
                <a:latin typeface="Arial MT"/>
                <a:cs typeface="Arial MT"/>
              </a:rPr>
              <a:t>Intent).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390"/>
              </a:spcBef>
            </a:pP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Label</a:t>
            </a:r>
            <a:r>
              <a:rPr sz="1000" spc="165" dirty="0">
                <a:solidFill>
                  <a:srgbClr val="93A3B8"/>
                </a:solidFill>
                <a:latin typeface="Arial MT"/>
                <a:cs typeface="Arial MT"/>
              </a:rPr>
              <a:t> 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Encoding</a:t>
            </a:r>
            <a:r>
              <a:rPr sz="1000" spc="165" dirty="0">
                <a:solidFill>
                  <a:srgbClr val="93A3B8"/>
                </a:solidFill>
                <a:latin typeface="Arial MT"/>
                <a:cs typeface="Arial MT"/>
              </a:rPr>
              <a:t> 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applied</a:t>
            </a:r>
            <a:r>
              <a:rPr sz="1000" spc="165" dirty="0">
                <a:solidFill>
                  <a:srgbClr val="93A3B8"/>
                </a:solidFill>
                <a:latin typeface="Arial MT"/>
                <a:cs typeface="Arial MT"/>
              </a:rPr>
              <a:t>  </a:t>
            </a:r>
            <a:r>
              <a:rPr sz="1000" spc="65" dirty="0">
                <a:solidFill>
                  <a:srgbClr val="93A3B8"/>
                </a:solidFill>
                <a:latin typeface="Arial MT"/>
                <a:cs typeface="Arial MT"/>
              </a:rPr>
              <a:t>to</a:t>
            </a:r>
            <a:r>
              <a:rPr sz="1000" spc="165" dirty="0">
                <a:solidFill>
                  <a:srgbClr val="93A3B8"/>
                </a:solidFill>
                <a:latin typeface="Arial MT"/>
                <a:cs typeface="Arial MT"/>
              </a:rPr>
              <a:t> 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ordinal</a:t>
            </a:r>
            <a:r>
              <a:rPr sz="1000" spc="165" dirty="0">
                <a:solidFill>
                  <a:srgbClr val="93A3B8"/>
                </a:solidFill>
                <a:latin typeface="Arial MT"/>
                <a:cs typeface="Arial MT"/>
              </a:rPr>
              <a:t>  </a:t>
            </a:r>
            <a:r>
              <a:rPr sz="1000" spc="-20" dirty="0">
                <a:solidFill>
                  <a:srgbClr val="93A3B8"/>
                </a:solidFill>
                <a:latin typeface="Arial MT"/>
                <a:cs typeface="Arial MT"/>
              </a:rPr>
              <a:t>Loan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Grades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93A3B8"/>
                </a:solidFill>
                <a:latin typeface="Arial MT"/>
                <a:cs typeface="Arial MT"/>
              </a:rPr>
              <a:t>(A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65" dirty="0">
                <a:solidFill>
                  <a:srgbClr val="93A3B8"/>
                </a:solidFill>
                <a:latin typeface="Arial MT"/>
                <a:cs typeface="Arial MT"/>
              </a:rPr>
              <a:t>to</a:t>
            </a:r>
            <a:r>
              <a:rPr sz="1000" spc="-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93A3B8"/>
                </a:solidFill>
                <a:latin typeface="Arial MT"/>
                <a:cs typeface="Arial MT"/>
              </a:rPr>
              <a:t>G).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037209" y="1284390"/>
            <a:ext cx="3007360" cy="1207135"/>
            <a:chOff x="7037209" y="1284390"/>
            <a:chExt cx="3007360" cy="1207135"/>
          </a:xfrm>
        </p:grpSpPr>
        <p:sp>
          <p:nvSpPr>
            <p:cNvPr id="17" name="object 17"/>
            <p:cNvSpPr/>
            <p:nvPr/>
          </p:nvSpPr>
          <p:spPr>
            <a:xfrm>
              <a:off x="7037209" y="1284390"/>
              <a:ext cx="3007360" cy="1207135"/>
            </a:xfrm>
            <a:custGeom>
              <a:avLst/>
              <a:gdLst/>
              <a:ahLst/>
              <a:cxnLst/>
              <a:rect l="l" t="t" r="r" b="b"/>
              <a:pathLst>
                <a:path w="3007359" h="1207135">
                  <a:moveTo>
                    <a:pt x="2886173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4"/>
                  </a:lnTo>
                  <a:lnTo>
                    <a:pt x="0" y="1086175"/>
                  </a:lnTo>
                  <a:lnTo>
                    <a:pt x="9481" y="1133139"/>
                  </a:lnTo>
                  <a:lnTo>
                    <a:pt x="35338" y="1171490"/>
                  </a:lnTo>
                  <a:lnTo>
                    <a:pt x="73689" y="1197347"/>
                  </a:lnTo>
                  <a:lnTo>
                    <a:pt x="120653" y="1206829"/>
                  </a:lnTo>
                  <a:lnTo>
                    <a:pt x="2886173" y="1206829"/>
                  </a:lnTo>
                  <a:lnTo>
                    <a:pt x="2933137" y="1197347"/>
                  </a:lnTo>
                  <a:lnTo>
                    <a:pt x="2971488" y="1171490"/>
                  </a:lnTo>
                  <a:lnTo>
                    <a:pt x="2997345" y="1133139"/>
                  </a:lnTo>
                  <a:lnTo>
                    <a:pt x="3006827" y="1086175"/>
                  </a:lnTo>
                  <a:lnTo>
                    <a:pt x="3006827" y="120654"/>
                  </a:lnTo>
                  <a:lnTo>
                    <a:pt x="2997345" y="73689"/>
                  </a:lnTo>
                  <a:lnTo>
                    <a:pt x="2971488" y="35338"/>
                  </a:lnTo>
                  <a:lnTo>
                    <a:pt x="2933137" y="9481"/>
                  </a:lnTo>
                  <a:lnTo>
                    <a:pt x="2886173" y="0"/>
                  </a:lnTo>
                  <a:close/>
                </a:path>
              </a:pathLst>
            </a:custGeom>
            <a:solidFill>
              <a:srgbClr val="3340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049862" y="1520243"/>
              <a:ext cx="2981960" cy="958850"/>
            </a:xfrm>
            <a:custGeom>
              <a:avLst/>
              <a:gdLst/>
              <a:ahLst/>
              <a:cxnLst/>
              <a:rect l="l" t="t" r="r" b="b"/>
              <a:pathLst>
                <a:path w="2981959" h="958850">
                  <a:moveTo>
                    <a:pt x="2981522" y="0"/>
                  </a:moveTo>
                  <a:lnTo>
                    <a:pt x="0" y="0"/>
                  </a:lnTo>
                  <a:lnTo>
                    <a:pt x="0" y="850322"/>
                  </a:lnTo>
                  <a:lnTo>
                    <a:pt x="8487" y="892361"/>
                  </a:lnTo>
                  <a:lnTo>
                    <a:pt x="31632" y="926690"/>
                  </a:lnTo>
                  <a:lnTo>
                    <a:pt x="65961" y="949835"/>
                  </a:lnTo>
                  <a:lnTo>
                    <a:pt x="108001" y="958323"/>
                  </a:lnTo>
                  <a:lnTo>
                    <a:pt x="2873520" y="958323"/>
                  </a:lnTo>
                  <a:lnTo>
                    <a:pt x="2915559" y="949835"/>
                  </a:lnTo>
                  <a:lnTo>
                    <a:pt x="2949889" y="926690"/>
                  </a:lnTo>
                  <a:lnTo>
                    <a:pt x="2973034" y="892361"/>
                  </a:lnTo>
                  <a:lnTo>
                    <a:pt x="2981522" y="850322"/>
                  </a:lnTo>
                  <a:lnTo>
                    <a:pt x="2981522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224991" y="1287105"/>
            <a:ext cx="13855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3.</a:t>
            </a:r>
            <a:r>
              <a:rPr sz="1100" spc="1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4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SMOTE</a:t>
            </a:r>
            <a:r>
              <a:rPr sz="1100" spc="-7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6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Balancing</a:t>
            </a:r>
            <a:endParaRPr sz="1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24991" y="1640349"/>
            <a:ext cx="2631440" cy="683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8FAFC"/>
                </a:solidFill>
                <a:latin typeface="Arial MT"/>
                <a:cs typeface="Arial MT"/>
              </a:rPr>
              <a:t>Over-sampled </a:t>
            </a:r>
            <a:r>
              <a:rPr sz="1000" spc="50" dirty="0">
                <a:solidFill>
                  <a:srgbClr val="F8FAFC"/>
                </a:solidFill>
                <a:latin typeface="Arial MT"/>
                <a:cs typeface="Arial MT"/>
              </a:rPr>
              <a:t>minority </a:t>
            </a:r>
            <a:r>
              <a:rPr sz="1000" dirty="0">
                <a:solidFill>
                  <a:srgbClr val="F8FAFC"/>
                </a:solidFill>
                <a:latin typeface="Arial MT"/>
                <a:cs typeface="Arial MT"/>
              </a:rPr>
              <a:t>default </a:t>
            </a:r>
            <a:r>
              <a:rPr sz="1000" spc="-10" dirty="0">
                <a:solidFill>
                  <a:srgbClr val="F8FAFC"/>
                </a:solidFill>
                <a:latin typeface="Arial MT"/>
                <a:cs typeface="Arial MT"/>
              </a:rPr>
              <a:t>class </a:t>
            </a:r>
            <a:r>
              <a:rPr sz="1000" dirty="0">
                <a:solidFill>
                  <a:srgbClr val="F8FAFC"/>
                </a:solidFill>
                <a:latin typeface="Arial MT"/>
                <a:cs typeface="Arial MT"/>
              </a:rPr>
              <a:t>using </a:t>
            </a:r>
            <a:r>
              <a:rPr sz="1000" spc="-25" dirty="0">
                <a:solidFill>
                  <a:srgbClr val="F8FAFC"/>
                </a:solidFill>
                <a:latin typeface="Arial MT"/>
                <a:cs typeface="Arial MT"/>
              </a:rPr>
              <a:t>k-</a:t>
            </a:r>
            <a:r>
              <a:rPr sz="1000" dirty="0">
                <a:solidFill>
                  <a:srgbClr val="F8FAFC"/>
                </a:solidFill>
                <a:latin typeface="Arial MT"/>
                <a:cs typeface="Arial MT"/>
              </a:rPr>
              <a:t>nearest</a:t>
            </a:r>
            <a:r>
              <a:rPr sz="1000" spc="18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8FAFC"/>
                </a:solidFill>
                <a:latin typeface="Arial MT"/>
                <a:cs typeface="Arial MT"/>
              </a:rPr>
              <a:t>neighbors.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390"/>
              </a:spcBef>
            </a:pP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Prevents</a:t>
            </a:r>
            <a:r>
              <a:rPr sz="1000" spc="19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model</a:t>
            </a:r>
            <a:r>
              <a:rPr sz="1000" spc="20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decision</a:t>
            </a:r>
            <a:r>
              <a:rPr sz="1000" spc="19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boundary</a:t>
            </a:r>
            <a:r>
              <a:rPr sz="1000" spc="20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skewing 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toward</a:t>
            </a:r>
            <a:r>
              <a:rPr sz="1000" spc="17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approval</a:t>
            </a:r>
            <a:r>
              <a:rPr sz="1000" spc="17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class.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48004" y="2755390"/>
            <a:ext cx="9396730" cy="1206500"/>
            <a:chOff x="648004" y="2755390"/>
            <a:chExt cx="9396730" cy="1206500"/>
          </a:xfrm>
        </p:grpSpPr>
        <p:sp>
          <p:nvSpPr>
            <p:cNvPr id="22" name="object 22"/>
            <p:cNvSpPr/>
            <p:nvPr/>
          </p:nvSpPr>
          <p:spPr>
            <a:xfrm>
              <a:off x="648004" y="2755390"/>
              <a:ext cx="9396730" cy="1206500"/>
            </a:xfrm>
            <a:custGeom>
              <a:avLst/>
              <a:gdLst/>
              <a:ahLst/>
              <a:cxnLst/>
              <a:rect l="l" t="t" r="r" b="b"/>
              <a:pathLst>
                <a:path w="9396730" h="1206500">
                  <a:moveTo>
                    <a:pt x="9275467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4"/>
                  </a:lnTo>
                  <a:lnTo>
                    <a:pt x="0" y="1085542"/>
                  </a:lnTo>
                  <a:lnTo>
                    <a:pt x="9481" y="1132506"/>
                  </a:lnTo>
                  <a:lnTo>
                    <a:pt x="35338" y="1170858"/>
                  </a:lnTo>
                  <a:lnTo>
                    <a:pt x="73689" y="1196715"/>
                  </a:lnTo>
                  <a:lnTo>
                    <a:pt x="120653" y="1206196"/>
                  </a:lnTo>
                  <a:lnTo>
                    <a:pt x="9275467" y="1206196"/>
                  </a:lnTo>
                  <a:lnTo>
                    <a:pt x="9322431" y="1196715"/>
                  </a:lnTo>
                  <a:lnTo>
                    <a:pt x="9360782" y="1170858"/>
                  </a:lnTo>
                  <a:lnTo>
                    <a:pt x="9386639" y="1132506"/>
                  </a:lnTo>
                  <a:lnTo>
                    <a:pt x="9396121" y="1085542"/>
                  </a:lnTo>
                  <a:lnTo>
                    <a:pt x="9396121" y="120654"/>
                  </a:lnTo>
                  <a:lnTo>
                    <a:pt x="9386639" y="73689"/>
                  </a:lnTo>
                  <a:lnTo>
                    <a:pt x="9360782" y="35338"/>
                  </a:lnTo>
                  <a:lnTo>
                    <a:pt x="9322431" y="9481"/>
                  </a:lnTo>
                  <a:lnTo>
                    <a:pt x="9275467" y="0"/>
                  </a:lnTo>
                  <a:close/>
                </a:path>
              </a:pathLst>
            </a:custGeom>
            <a:solidFill>
              <a:srgbClr val="8769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60657" y="2991243"/>
              <a:ext cx="9371330" cy="958215"/>
            </a:xfrm>
            <a:custGeom>
              <a:avLst/>
              <a:gdLst/>
              <a:ahLst/>
              <a:cxnLst/>
              <a:rect l="l" t="t" r="r" b="b"/>
              <a:pathLst>
                <a:path w="9371330" h="958214">
                  <a:moveTo>
                    <a:pt x="9370815" y="0"/>
                  </a:moveTo>
                  <a:lnTo>
                    <a:pt x="0" y="0"/>
                  </a:lnTo>
                  <a:lnTo>
                    <a:pt x="0" y="849689"/>
                  </a:lnTo>
                  <a:lnTo>
                    <a:pt x="8487" y="891728"/>
                  </a:lnTo>
                  <a:lnTo>
                    <a:pt x="31632" y="926057"/>
                  </a:lnTo>
                  <a:lnTo>
                    <a:pt x="65961" y="949203"/>
                  </a:lnTo>
                  <a:lnTo>
                    <a:pt x="108001" y="957690"/>
                  </a:lnTo>
                  <a:lnTo>
                    <a:pt x="9262814" y="957690"/>
                  </a:lnTo>
                  <a:lnTo>
                    <a:pt x="9304853" y="949203"/>
                  </a:lnTo>
                  <a:lnTo>
                    <a:pt x="9339183" y="926057"/>
                  </a:lnTo>
                  <a:lnTo>
                    <a:pt x="9362328" y="891728"/>
                  </a:lnTo>
                  <a:lnTo>
                    <a:pt x="9370815" y="849689"/>
                  </a:lnTo>
                  <a:lnTo>
                    <a:pt x="9370815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835786" y="2758108"/>
            <a:ext cx="46005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Synthetic</a:t>
            </a:r>
            <a:r>
              <a:rPr sz="1100" spc="-30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35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Minority</a:t>
            </a:r>
            <a:r>
              <a:rPr sz="1100" spc="-30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60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Over-sampling</a:t>
            </a:r>
            <a:r>
              <a:rPr sz="1100" spc="-30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95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Technique</a:t>
            </a:r>
            <a:r>
              <a:rPr sz="1100" spc="-30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20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(SMOTE)</a:t>
            </a:r>
            <a:r>
              <a:rPr sz="1100" spc="-30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25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Formulation</a:t>
            </a:r>
            <a:endParaRPr sz="1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28761" y="3313784"/>
            <a:ext cx="6634480" cy="4806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  <a:tabLst>
                <a:tab pos="1765300" algn="l"/>
                <a:tab pos="2308860" algn="l"/>
              </a:tabLst>
            </a:pPr>
            <a:r>
              <a:rPr sz="1100" i="1" spc="50" dirty="0">
                <a:solidFill>
                  <a:srgbClr val="F8FAFC"/>
                </a:solidFill>
                <a:latin typeface="Calibri" panose="020F0502020204030204"/>
                <a:cs typeface="Calibri" panose="020F0502020204030204"/>
              </a:rPr>
              <a:t>x</a:t>
            </a:r>
            <a:r>
              <a:rPr sz="1200" spc="75" baseline="-10000" dirty="0">
                <a:solidFill>
                  <a:srgbClr val="F8FAFC"/>
                </a:solidFill>
                <a:latin typeface="Arial MT"/>
                <a:cs typeface="Arial MT"/>
              </a:rPr>
              <a:t>new</a:t>
            </a:r>
            <a:r>
              <a:rPr sz="1200" spc="270" baseline="-1000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Tahoma" panose="020B0604030504040204"/>
                <a:cs typeface="Tahoma" panose="020B0604030504040204"/>
              </a:rPr>
              <a:t>=</a:t>
            </a:r>
            <a:r>
              <a:rPr sz="1100" spc="10" dirty="0">
                <a:solidFill>
                  <a:srgbClr val="F8FAF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i="1" spc="120" dirty="0">
                <a:solidFill>
                  <a:srgbClr val="F8FAFC"/>
                </a:solidFill>
                <a:latin typeface="Calibri" panose="020F0502020204030204"/>
                <a:cs typeface="Calibri" panose="020F0502020204030204"/>
              </a:rPr>
              <a:t>x</a:t>
            </a:r>
            <a:r>
              <a:rPr sz="1200" i="1" spc="179" baseline="-10000" dirty="0">
                <a:solidFill>
                  <a:srgbClr val="F8FAFC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200" i="1" spc="217" baseline="-10000" dirty="0">
                <a:solidFill>
                  <a:srgbClr val="F8FAFC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solidFill>
                  <a:srgbClr val="F8FAFC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1100" spc="-65" dirty="0">
                <a:solidFill>
                  <a:srgbClr val="F8FAFC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i="1" spc="120" dirty="0">
                <a:solidFill>
                  <a:srgbClr val="F8FAFC"/>
                </a:solidFill>
                <a:latin typeface="Calibri" panose="020F0502020204030204"/>
                <a:cs typeface="Calibri" panose="020F0502020204030204"/>
              </a:rPr>
              <a:t>λ</a:t>
            </a:r>
            <a:r>
              <a:rPr sz="1100" i="1" spc="25" dirty="0">
                <a:solidFill>
                  <a:srgbClr val="F8FAFC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solidFill>
                  <a:srgbClr val="F8FAFC"/>
                </a:solidFill>
                <a:latin typeface="Cambria" panose="02040503050406030204"/>
                <a:cs typeface="Cambria" panose="02040503050406030204"/>
              </a:rPr>
              <a:t>·</a:t>
            </a:r>
            <a:r>
              <a:rPr sz="1100" spc="40" dirty="0">
                <a:solidFill>
                  <a:srgbClr val="F8FAF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dirty="0">
                <a:solidFill>
                  <a:srgbClr val="F8FAFC"/>
                </a:solidFill>
                <a:latin typeface="Tahoma" panose="020B0604030504040204"/>
                <a:cs typeface="Tahoma" panose="020B0604030504040204"/>
              </a:rPr>
              <a:t>(</a:t>
            </a:r>
            <a:r>
              <a:rPr sz="1100" i="1" dirty="0">
                <a:solidFill>
                  <a:srgbClr val="F8FAFC"/>
                </a:solidFill>
                <a:latin typeface="Calibri" panose="020F0502020204030204"/>
                <a:cs typeface="Calibri" panose="020F0502020204030204"/>
              </a:rPr>
              <a:t>x</a:t>
            </a:r>
            <a:r>
              <a:rPr sz="1200" baseline="-17000" dirty="0">
                <a:solidFill>
                  <a:srgbClr val="F8FAFC"/>
                </a:solidFill>
                <a:latin typeface="Arial MT"/>
                <a:cs typeface="Arial MT"/>
              </a:rPr>
              <a:t>knn</a:t>
            </a:r>
            <a:r>
              <a:rPr sz="1200" spc="157" baseline="-1700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229" dirty="0">
                <a:solidFill>
                  <a:srgbClr val="F8FAFC"/>
                </a:solidFill>
                <a:latin typeface="Cambria" panose="02040503050406030204"/>
                <a:cs typeface="Cambria" panose="02040503050406030204"/>
              </a:rPr>
              <a:t>−</a:t>
            </a:r>
            <a:r>
              <a:rPr sz="1100" spc="40" dirty="0">
                <a:solidFill>
                  <a:srgbClr val="F8FAF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i="1" spc="70" dirty="0">
                <a:solidFill>
                  <a:srgbClr val="F8FAFC"/>
                </a:solidFill>
                <a:latin typeface="Calibri" panose="020F0502020204030204"/>
                <a:cs typeface="Calibri" panose="020F0502020204030204"/>
              </a:rPr>
              <a:t>x</a:t>
            </a:r>
            <a:r>
              <a:rPr sz="1200" i="1" spc="104" baseline="-10000" dirty="0">
                <a:solidFill>
                  <a:srgbClr val="F8FAFC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100" spc="70" dirty="0">
                <a:solidFill>
                  <a:srgbClr val="F8FAFC"/>
                </a:solidFill>
                <a:latin typeface="Tahoma" panose="020B0604030504040204"/>
                <a:cs typeface="Tahoma" panose="020B0604030504040204"/>
              </a:rPr>
              <a:t>)</a:t>
            </a:r>
            <a:r>
              <a:rPr sz="1100" dirty="0">
                <a:solidFill>
                  <a:srgbClr val="F8FAFC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where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	</a:t>
            </a:r>
            <a:r>
              <a:rPr sz="1100" i="1" spc="120" dirty="0">
                <a:solidFill>
                  <a:srgbClr val="F8FAFC"/>
                </a:solidFill>
                <a:latin typeface="Calibri" panose="020F0502020204030204"/>
                <a:cs typeface="Calibri" panose="020F0502020204030204"/>
              </a:rPr>
              <a:t>λ</a:t>
            </a:r>
            <a:r>
              <a:rPr sz="1100" i="1" spc="70" dirty="0">
                <a:solidFill>
                  <a:srgbClr val="F8FAFC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dirty="0">
                <a:solidFill>
                  <a:srgbClr val="F8FAFC"/>
                </a:solidFill>
                <a:latin typeface="Cambria" panose="02040503050406030204"/>
                <a:cs typeface="Cambria" panose="02040503050406030204"/>
              </a:rPr>
              <a:t>∈</a:t>
            </a:r>
            <a:r>
              <a:rPr sz="1100" spc="80" dirty="0">
                <a:solidFill>
                  <a:srgbClr val="F8FAF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spc="-60" dirty="0">
                <a:solidFill>
                  <a:srgbClr val="F8FAFC"/>
                </a:solidFill>
                <a:latin typeface="Tahoma" panose="020B0604030504040204"/>
                <a:cs typeface="Tahoma" panose="020B0604030504040204"/>
              </a:rPr>
              <a:t>[0</a:t>
            </a:r>
            <a:r>
              <a:rPr sz="1100" i="1" spc="-60" dirty="0">
                <a:solidFill>
                  <a:srgbClr val="F8FAFC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1100" i="1" spc="-55" dirty="0">
                <a:solidFill>
                  <a:srgbClr val="F8FAFC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100" spc="-25" dirty="0">
                <a:solidFill>
                  <a:srgbClr val="F8FAFC"/>
                </a:solidFill>
                <a:latin typeface="Tahoma" panose="020B0604030504040204"/>
                <a:cs typeface="Tahoma" panose="020B0604030504040204"/>
              </a:rPr>
              <a:t>1]</a:t>
            </a:r>
            <a:endParaRPr sz="1100">
              <a:latin typeface="Tahoma" panose="020B0604030504040204"/>
              <a:cs typeface="Tahoma" panose="020B0604030504040204"/>
            </a:endParaRPr>
          </a:p>
          <a:p>
            <a:pPr algn="ctr">
              <a:lnSpc>
                <a:spcPct val="100000"/>
              </a:lnSpc>
              <a:spcBef>
                <a:spcPts val="1070"/>
              </a:spcBef>
            </a:pP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Generates</a:t>
            </a:r>
            <a:r>
              <a:rPr sz="1000" spc="25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synthetic</a:t>
            </a:r>
            <a:r>
              <a:rPr sz="1000" spc="25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default</a:t>
            </a:r>
            <a:r>
              <a:rPr sz="1000" spc="254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instances</a:t>
            </a:r>
            <a:r>
              <a:rPr sz="1000" spc="254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along</a:t>
            </a:r>
            <a:r>
              <a:rPr sz="1000" spc="254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line</a:t>
            </a:r>
            <a:r>
              <a:rPr sz="1000" spc="254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segments</a:t>
            </a:r>
            <a:r>
              <a:rPr sz="1000" spc="254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connecting</a:t>
            </a:r>
            <a:r>
              <a:rPr sz="1000" spc="254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i="1" spc="55" dirty="0">
                <a:solidFill>
                  <a:srgbClr val="93A3B8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1000" spc="55" dirty="0">
                <a:solidFill>
                  <a:srgbClr val="93A3B8"/>
                </a:solidFill>
                <a:latin typeface="Arial MT"/>
                <a:cs typeface="Arial MT"/>
              </a:rPr>
              <a:t>-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nearest</a:t>
            </a:r>
            <a:r>
              <a:rPr sz="1000" spc="24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neighbors</a:t>
            </a:r>
            <a:r>
              <a:rPr sz="1000" spc="254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in</a:t>
            </a:r>
            <a:r>
              <a:rPr sz="1000" spc="254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feature</a:t>
            </a:r>
            <a:r>
              <a:rPr sz="1000" spc="25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space.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48004" y="5380215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6324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Loan</a:t>
            </a:r>
            <a:r>
              <a:rPr spc="55" dirty="0"/>
              <a:t> </a:t>
            </a:r>
            <a:r>
              <a:rPr dirty="0"/>
              <a:t>Approval</a:t>
            </a:r>
            <a:r>
              <a:rPr spc="55" dirty="0"/>
              <a:t> </a:t>
            </a:r>
            <a:r>
              <a:rPr dirty="0"/>
              <a:t>Prediction</a:t>
            </a:r>
            <a:r>
              <a:rPr spc="55" dirty="0"/>
              <a:t> </a:t>
            </a:r>
            <a:r>
              <a:rPr dirty="0"/>
              <a:t>Using</a:t>
            </a:r>
            <a:r>
              <a:rPr spc="55" dirty="0"/>
              <a:t> </a:t>
            </a:r>
            <a:r>
              <a:rPr dirty="0"/>
              <a:t>Ensemble</a:t>
            </a:r>
            <a:r>
              <a:rPr spc="60" dirty="0"/>
              <a:t> </a:t>
            </a:r>
            <a:r>
              <a:rPr spc="-25" dirty="0"/>
              <a:t>ML</a:t>
            </a:r>
            <a:endParaRPr spc="-25" dirty="0"/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Academic</a:t>
            </a:r>
            <a:r>
              <a:rPr spc="35" dirty="0"/>
              <a:t> </a:t>
            </a:r>
            <a:r>
              <a:rPr dirty="0"/>
              <a:t>Capstone</a:t>
            </a:r>
            <a:r>
              <a:rPr spc="35" dirty="0"/>
              <a:t> </a:t>
            </a:r>
            <a:r>
              <a:rPr spc="-10" dirty="0"/>
              <a:t>Presentation</a:t>
            </a:r>
            <a:endParaRPr spc="-10" dirty="0"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Slide</a:t>
            </a:r>
            <a:r>
              <a:rPr spc="-30" dirty="0"/>
              <a:t> 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304" y="388560"/>
            <a:ext cx="1914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KL</a:t>
            </a:r>
            <a:r>
              <a:rPr sz="1000" spc="-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DEEMED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TO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BE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UNIVERSITY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83753" y="388560"/>
            <a:ext cx="36112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2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|</a:t>
            </a:r>
            <a:r>
              <a:rPr sz="1000" spc="20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DEPARTMENT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OF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COMPUTER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SCIENCE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ENGINEERING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51875" y="388560"/>
            <a:ext cx="1304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5" dirty="0">
                <a:solidFill>
                  <a:srgbClr val="93A3B8"/>
                </a:solidFill>
                <a:latin typeface="Arial MT"/>
                <a:cs typeface="Arial MT"/>
              </a:rPr>
              <a:t>B.TECH</a:t>
            </a:r>
            <a:r>
              <a:rPr sz="1000" spc="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14" dirty="0">
                <a:solidFill>
                  <a:srgbClr val="93A3B8"/>
                </a:solidFill>
                <a:latin typeface="Arial MT"/>
                <a:cs typeface="Arial MT"/>
              </a:rPr>
              <a:t>CSE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(2026–</a:t>
            </a:r>
            <a:r>
              <a:rPr sz="1000" spc="-25" dirty="0">
                <a:solidFill>
                  <a:srgbClr val="93A3B8"/>
                </a:solidFill>
                <a:latin typeface="Arial MT"/>
                <a:cs typeface="Arial MT"/>
              </a:rPr>
              <a:t>27)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8004" y="74540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10121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5304" y="828862"/>
            <a:ext cx="31597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8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Ensemble</a:t>
            </a:r>
            <a:r>
              <a:rPr sz="1400" spc="-4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8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Classifiers</a:t>
            </a:r>
            <a:r>
              <a:rPr sz="1400" spc="-4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2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Implemented</a:t>
            </a:r>
            <a:endParaRPr sz="14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8004" y="1316941"/>
            <a:ext cx="3007360" cy="1416685"/>
            <a:chOff x="648004" y="1316941"/>
            <a:chExt cx="3007360" cy="1416685"/>
          </a:xfrm>
        </p:grpSpPr>
        <p:sp>
          <p:nvSpPr>
            <p:cNvPr id="8" name="object 8"/>
            <p:cNvSpPr/>
            <p:nvPr/>
          </p:nvSpPr>
          <p:spPr>
            <a:xfrm>
              <a:off x="648004" y="1316941"/>
              <a:ext cx="3007360" cy="1416685"/>
            </a:xfrm>
            <a:custGeom>
              <a:avLst/>
              <a:gdLst/>
              <a:ahLst/>
              <a:cxnLst/>
              <a:rect l="l" t="t" r="r" b="b"/>
              <a:pathLst>
                <a:path w="3007360" h="1416685">
                  <a:moveTo>
                    <a:pt x="2886173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1295621"/>
                  </a:lnTo>
                  <a:lnTo>
                    <a:pt x="9481" y="1342586"/>
                  </a:lnTo>
                  <a:lnTo>
                    <a:pt x="35338" y="1380937"/>
                  </a:lnTo>
                  <a:lnTo>
                    <a:pt x="73689" y="1406794"/>
                  </a:lnTo>
                  <a:lnTo>
                    <a:pt x="120653" y="1416275"/>
                  </a:lnTo>
                  <a:lnTo>
                    <a:pt x="2886173" y="1416275"/>
                  </a:lnTo>
                  <a:lnTo>
                    <a:pt x="2933137" y="1406794"/>
                  </a:lnTo>
                  <a:lnTo>
                    <a:pt x="2971488" y="1380937"/>
                  </a:lnTo>
                  <a:lnTo>
                    <a:pt x="2997345" y="1342586"/>
                  </a:lnTo>
                  <a:lnTo>
                    <a:pt x="3006827" y="1295621"/>
                  </a:lnTo>
                  <a:lnTo>
                    <a:pt x="3006827" y="120653"/>
                  </a:lnTo>
                  <a:lnTo>
                    <a:pt x="2997345" y="73689"/>
                  </a:lnTo>
                  <a:lnTo>
                    <a:pt x="2971488" y="35338"/>
                  </a:lnTo>
                  <a:lnTo>
                    <a:pt x="2933137" y="9481"/>
                  </a:lnTo>
                  <a:lnTo>
                    <a:pt x="2886173" y="0"/>
                  </a:lnTo>
                  <a:close/>
                </a:path>
              </a:pathLst>
            </a:custGeom>
            <a:solidFill>
              <a:srgbClr val="368B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0657" y="1520928"/>
              <a:ext cx="2981960" cy="1200150"/>
            </a:xfrm>
            <a:custGeom>
              <a:avLst/>
              <a:gdLst/>
              <a:ahLst/>
              <a:cxnLst/>
              <a:rect l="l" t="t" r="r" b="b"/>
              <a:pathLst>
                <a:path w="2981960" h="1200150">
                  <a:moveTo>
                    <a:pt x="2981522" y="0"/>
                  </a:moveTo>
                  <a:lnTo>
                    <a:pt x="0" y="0"/>
                  </a:lnTo>
                  <a:lnTo>
                    <a:pt x="0" y="1091634"/>
                  </a:lnTo>
                  <a:lnTo>
                    <a:pt x="8487" y="1133674"/>
                  </a:lnTo>
                  <a:lnTo>
                    <a:pt x="31632" y="1168003"/>
                  </a:lnTo>
                  <a:lnTo>
                    <a:pt x="65961" y="1191148"/>
                  </a:lnTo>
                  <a:lnTo>
                    <a:pt x="108001" y="1199635"/>
                  </a:lnTo>
                  <a:lnTo>
                    <a:pt x="2873520" y="1199635"/>
                  </a:lnTo>
                  <a:lnTo>
                    <a:pt x="2915559" y="1191148"/>
                  </a:lnTo>
                  <a:lnTo>
                    <a:pt x="2949889" y="1168003"/>
                  </a:lnTo>
                  <a:lnTo>
                    <a:pt x="2973034" y="1133674"/>
                  </a:lnTo>
                  <a:lnTo>
                    <a:pt x="2981522" y="1091634"/>
                  </a:lnTo>
                  <a:lnTo>
                    <a:pt x="2981522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35786" y="1319668"/>
            <a:ext cx="2631440" cy="12465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Random</a:t>
            </a:r>
            <a:r>
              <a:rPr sz="1100" spc="-6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Forest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100" spc="-6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Bagging</a:t>
            </a:r>
            <a:r>
              <a:rPr sz="1100" spc="-2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Architecture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 marR="5080" algn="just">
              <a:lnSpc>
                <a:spcPct val="113000"/>
              </a:lnSpc>
              <a:spcBef>
                <a:spcPts val="380"/>
              </a:spcBef>
            </a:pP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Combines</a:t>
            </a:r>
            <a:r>
              <a:rPr sz="1000" spc="44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50" dirty="0">
                <a:solidFill>
                  <a:srgbClr val="93A3B8"/>
                </a:solidFill>
                <a:latin typeface="Arial MT"/>
                <a:cs typeface="Arial MT"/>
              </a:rPr>
              <a:t>multiple</a:t>
            </a:r>
            <a:r>
              <a:rPr sz="1000" spc="44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parallel</a:t>
            </a:r>
            <a:r>
              <a:rPr sz="1000" spc="44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decision</a:t>
            </a:r>
            <a:r>
              <a:rPr sz="1000" spc="44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trees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trained</a:t>
            </a:r>
            <a:r>
              <a:rPr sz="1000" spc="22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55" dirty="0">
                <a:solidFill>
                  <a:srgbClr val="93A3B8"/>
                </a:solidFill>
                <a:latin typeface="Arial MT"/>
                <a:cs typeface="Arial MT"/>
              </a:rPr>
              <a:t>on</a:t>
            </a:r>
            <a:r>
              <a:rPr sz="1000" spc="229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45" dirty="0">
                <a:solidFill>
                  <a:srgbClr val="93A3B8"/>
                </a:solidFill>
                <a:latin typeface="Arial MT"/>
                <a:cs typeface="Arial MT"/>
              </a:rPr>
              <a:t>bootstrap</a:t>
            </a:r>
            <a:r>
              <a:rPr sz="1000" spc="229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samples</a:t>
            </a:r>
            <a:r>
              <a:rPr sz="1000" spc="22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55" dirty="0">
                <a:solidFill>
                  <a:srgbClr val="93A3B8"/>
                </a:solidFill>
                <a:latin typeface="Arial MT"/>
                <a:cs typeface="Arial MT"/>
              </a:rPr>
              <a:t>with</a:t>
            </a:r>
            <a:r>
              <a:rPr sz="1000" spc="229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feature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subspace sampling. Effective at variance </a:t>
            </a:r>
            <a:r>
              <a:rPr sz="1000" spc="-25" dirty="0">
                <a:solidFill>
                  <a:srgbClr val="93A3B8"/>
                </a:solidFill>
                <a:latin typeface="Arial MT"/>
                <a:cs typeface="Arial MT"/>
              </a:rPr>
              <a:t>re-</a:t>
            </a:r>
            <a:r>
              <a:rPr sz="1000" spc="20" dirty="0">
                <a:solidFill>
                  <a:srgbClr val="93A3B8"/>
                </a:solidFill>
                <a:latin typeface="Arial MT"/>
                <a:cs typeface="Arial MT"/>
              </a:rPr>
              <a:t>duction</a:t>
            </a:r>
            <a:r>
              <a:rPr sz="1000" spc="17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20" dirty="0">
                <a:solidFill>
                  <a:srgbClr val="93A3B8"/>
                </a:solidFill>
                <a:latin typeface="Arial MT"/>
                <a:cs typeface="Arial MT"/>
              </a:rPr>
              <a:t>and</a:t>
            </a:r>
            <a:r>
              <a:rPr sz="1000" spc="18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20" dirty="0">
                <a:solidFill>
                  <a:srgbClr val="93A3B8"/>
                </a:solidFill>
                <a:latin typeface="Arial MT"/>
                <a:cs typeface="Arial MT"/>
              </a:rPr>
              <a:t>preventing</a:t>
            </a:r>
            <a:r>
              <a:rPr sz="1000" spc="18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20" dirty="0">
                <a:solidFill>
                  <a:srgbClr val="93A3B8"/>
                </a:solidFill>
                <a:latin typeface="Arial MT"/>
                <a:cs typeface="Arial MT"/>
              </a:rPr>
              <a:t>over-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fitting.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42600" y="1316248"/>
            <a:ext cx="3007360" cy="1417320"/>
            <a:chOff x="3842600" y="1316248"/>
            <a:chExt cx="3007360" cy="1417320"/>
          </a:xfrm>
        </p:grpSpPr>
        <p:sp>
          <p:nvSpPr>
            <p:cNvPr id="12" name="object 12"/>
            <p:cNvSpPr/>
            <p:nvPr/>
          </p:nvSpPr>
          <p:spPr>
            <a:xfrm>
              <a:off x="3842600" y="1316248"/>
              <a:ext cx="3007360" cy="1417320"/>
            </a:xfrm>
            <a:custGeom>
              <a:avLst/>
              <a:gdLst/>
              <a:ahLst/>
              <a:cxnLst/>
              <a:rect l="l" t="t" r="r" b="b"/>
              <a:pathLst>
                <a:path w="3007359" h="1417320">
                  <a:moveTo>
                    <a:pt x="2886173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1296314"/>
                  </a:lnTo>
                  <a:lnTo>
                    <a:pt x="9481" y="1343279"/>
                  </a:lnTo>
                  <a:lnTo>
                    <a:pt x="35338" y="1381630"/>
                  </a:lnTo>
                  <a:lnTo>
                    <a:pt x="73689" y="1407487"/>
                  </a:lnTo>
                  <a:lnTo>
                    <a:pt x="120653" y="1416968"/>
                  </a:lnTo>
                  <a:lnTo>
                    <a:pt x="2886173" y="1416968"/>
                  </a:lnTo>
                  <a:lnTo>
                    <a:pt x="2933137" y="1407487"/>
                  </a:lnTo>
                  <a:lnTo>
                    <a:pt x="2971488" y="1381630"/>
                  </a:lnTo>
                  <a:lnTo>
                    <a:pt x="2997345" y="1343279"/>
                  </a:lnTo>
                  <a:lnTo>
                    <a:pt x="3006827" y="1296314"/>
                  </a:lnTo>
                  <a:lnTo>
                    <a:pt x="3006827" y="120653"/>
                  </a:lnTo>
                  <a:lnTo>
                    <a:pt x="2997345" y="73689"/>
                  </a:lnTo>
                  <a:lnTo>
                    <a:pt x="2971488" y="35338"/>
                  </a:lnTo>
                  <a:lnTo>
                    <a:pt x="2933137" y="9481"/>
                  </a:lnTo>
                  <a:lnTo>
                    <a:pt x="2886173" y="0"/>
                  </a:lnTo>
                  <a:close/>
                </a:path>
              </a:pathLst>
            </a:custGeom>
            <a:solidFill>
              <a:srgbClr val="3398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855253" y="1520928"/>
              <a:ext cx="2981960" cy="1200150"/>
            </a:xfrm>
            <a:custGeom>
              <a:avLst/>
              <a:gdLst/>
              <a:ahLst/>
              <a:cxnLst/>
              <a:rect l="l" t="t" r="r" b="b"/>
              <a:pathLst>
                <a:path w="2981959" h="1200150">
                  <a:moveTo>
                    <a:pt x="2981522" y="0"/>
                  </a:moveTo>
                  <a:lnTo>
                    <a:pt x="0" y="0"/>
                  </a:lnTo>
                  <a:lnTo>
                    <a:pt x="0" y="1091634"/>
                  </a:lnTo>
                  <a:lnTo>
                    <a:pt x="8487" y="1133674"/>
                  </a:lnTo>
                  <a:lnTo>
                    <a:pt x="31632" y="1168003"/>
                  </a:lnTo>
                  <a:lnTo>
                    <a:pt x="65961" y="1191148"/>
                  </a:lnTo>
                  <a:lnTo>
                    <a:pt x="108001" y="1199635"/>
                  </a:lnTo>
                  <a:lnTo>
                    <a:pt x="2873520" y="1199635"/>
                  </a:lnTo>
                  <a:lnTo>
                    <a:pt x="2915559" y="1191148"/>
                  </a:lnTo>
                  <a:lnTo>
                    <a:pt x="2949889" y="1168003"/>
                  </a:lnTo>
                  <a:lnTo>
                    <a:pt x="2973034" y="1133674"/>
                  </a:lnTo>
                  <a:lnTo>
                    <a:pt x="2981522" y="1091634"/>
                  </a:lnTo>
                  <a:lnTo>
                    <a:pt x="2981522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030383" y="1319668"/>
            <a:ext cx="2631440" cy="12465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5" dirty="0">
                <a:solidFill>
                  <a:srgbClr val="33D299"/>
                </a:solidFill>
                <a:latin typeface="Arial Black" panose="020B0A04020102020204"/>
                <a:cs typeface="Arial Black" panose="020B0A04020102020204"/>
              </a:rPr>
              <a:t>XGBoost</a:t>
            </a:r>
            <a:r>
              <a:rPr sz="1100" spc="-35" dirty="0">
                <a:solidFill>
                  <a:srgbClr val="33D29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33D299"/>
                </a:solidFill>
                <a:latin typeface="Arial Black" panose="020B0A04020102020204"/>
                <a:cs typeface="Arial Black" panose="020B0A04020102020204"/>
              </a:rPr>
              <a:t>Classifier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100" spc="-6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Gradient</a:t>
            </a:r>
            <a:r>
              <a:rPr sz="1100" spc="-2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Boosting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 marR="5080" algn="just">
              <a:lnSpc>
                <a:spcPct val="113000"/>
              </a:lnSpc>
              <a:spcBef>
                <a:spcPts val="380"/>
              </a:spcBef>
            </a:pPr>
            <a:r>
              <a:rPr sz="1000" spc="30" dirty="0">
                <a:solidFill>
                  <a:srgbClr val="93A3B8"/>
                </a:solidFill>
                <a:latin typeface="Arial MT"/>
                <a:cs typeface="Arial MT"/>
              </a:rPr>
              <a:t>Implements</a:t>
            </a:r>
            <a:r>
              <a:rPr sz="1000" spc="5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30" dirty="0">
                <a:solidFill>
                  <a:srgbClr val="93A3B8"/>
                </a:solidFill>
                <a:latin typeface="Arial MT"/>
                <a:cs typeface="Arial MT"/>
              </a:rPr>
              <a:t>regularized</a:t>
            </a:r>
            <a:r>
              <a:rPr sz="1000" spc="5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20" dirty="0">
                <a:solidFill>
                  <a:srgbClr val="93A3B8"/>
                </a:solidFill>
                <a:latin typeface="Arial MT"/>
                <a:cs typeface="Arial MT"/>
              </a:rPr>
              <a:t>objective</a:t>
            </a:r>
            <a:r>
              <a:rPr sz="1000" spc="5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functions,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exact</a:t>
            </a:r>
            <a:r>
              <a:rPr sz="1000" spc="46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greedy</a:t>
            </a:r>
            <a:r>
              <a:rPr sz="1000" spc="46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node</a:t>
            </a:r>
            <a:r>
              <a:rPr sz="1000" spc="47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splitting,</a:t>
            </a:r>
            <a:r>
              <a:rPr sz="1000" spc="50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and</a:t>
            </a:r>
            <a:r>
              <a:rPr sz="1000" spc="47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second-</a:t>
            </a:r>
            <a:r>
              <a:rPr sz="1000" spc="20" dirty="0">
                <a:solidFill>
                  <a:srgbClr val="93A3B8"/>
                </a:solidFill>
                <a:latin typeface="Arial MT"/>
                <a:cs typeface="Arial MT"/>
              </a:rPr>
              <a:t>order</a:t>
            </a:r>
            <a:r>
              <a:rPr sz="1000" spc="22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20" dirty="0">
                <a:solidFill>
                  <a:srgbClr val="93A3B8"/>
                </a:solidFill>
                <a:latin typeface="Arial MT"/>
                <a:cs typeface="Arial MT"/>
              </a:rPr>
              <a:t>Taylor</a:t>
            </a:r>
            <a:r>
              <a:rPr sz="1000" spc="22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20" dirty="0">
                <a:solidFill>
                  <a:srgbClr val="93A3B8"/>
                </a:solidFill>
                <a:latin typeface="Arial MT"/>
                <a:cs typeface="Arial MT"/>
              </a:rPr>
              <a:t>expansion</a:t>
            </a:r>
            <a:r>
              <a:rPr sz="1000" spc="22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20" dirty="0">
                <a:solidFill>
                  <a:srgbClr val="93A3B8"/>
                </a:solidFill>
                <a:latin typeface="Arial MT"/>
                <a:cs typeface="Arial MT"/>
              </a:rPr>
              <a:t>approximations</a:t>
            </a:r>
            <a:r>
              <a:rPr sz="1000" spc="22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35" dirty="0">
                <a:solidFill>
                  <a:srgbClr val="93A3B8"/>
                </a:solidFill>
                <a:latin typeface="Arial MT"/>
                <a:cs typeface="Arial MT"/>
              </a:rPr>
              <a:t>for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rapid</a:t>
            </a:r>
            <a:r>
              <a:rPr sz="1000" spc="18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convergence.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37209" y="1284382"/>
            <a:ext cx="3007360" cy="1449070"/>
            <a:chOff x="7037209" y="1284382"/>
            <a:chExt cx="3007360" cy="1449070"/>
          </a:xfrm>
        </p:grpSpPr>
        <p:sp>
          <p:nvSpPr>
            <p:cNvPr id="16" name="object 16"/>
            <p:cNvSpPr/>
            <p:nvPr/>
          </p:nvSpPr>
          <p:spPr>
            <a:xfrm>
              <a:off x="7037209" y="1284382"/>
              <a:ext cx="3007360" cy="1449070"/>
            </a:xfrm>
            <a:custGeom>
              <a:avLst/>
              <a:gdLst/>
              <a:ahLst/>
              <a:cxnLst/>
              <a:rect l="l" t="t" r="r" b="b"/>
              <a:pathLst>
                <a:path w="3007359" h="1449070">
                  <a:moveTo>
                    <a:pt x="2886173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4"/>
                  </a:lnTo>
                  <a:lnTo>
                    <a:pt x="0" y="1328180"/>
                  </a:lnTo>
                  <a:lnTo>
                    <a:pt x="9481" y="1375145"/>
                  </a:lnTo>
                  <a:lnTo>
                    <a:pt x="35338" y="1413496"/>
                  </a:lnTo>
                  <a:lnTo>
                    <a:pt x="73689" y="1439353"/>
                  </a:lnTo>
                  <a:lnTo>
                    <a:pt x="120653" y="1448834"/>
                  </a:lnTo>
                  <a:lnTo>
                    <a:pt x="2886173" y="1448834"/>
                  </a:lnTo>
                  <a:lnTo>
                    <a:pt x="2933137" y="1439353"/>
                  </a:lnTo>
                  <a:lnTo>
                    <a:pt x="2971488" y="1413496"/>
                  </a:lnTo>
                  <a:lnTo>
                    <a:pt x="2997345" y="1375145"/>
                  </a:lnTo>
                  <a:lnTo>
                    <a:pt x="3006827" y="1328180"/>
                  </a:lnTo>
                  <a:lnTo>
                    <a:pt x="3006827" y="120654"/>
                  </a:lnTo>
                  <a:lnTo>
                    <a:pt x="2997345" y="73689"/>
                  </a:lnTo>
                  <a:lnTo>
                    <a:pt x="2971488" y="35338"/>
                  </a:lnTo>
                  <a:lnTo>
                    <a:pt x="2933137" y="9481"/>
                  </a:lnTo>
                  <a:lnTo>
                    <a:pt x="2886173" y="0"/>
                  </a:lnTo>
                  <a:close/>
                </a:path>
              </a:pathLst>
            </a:custGeom>
            <a:solidFill>
              <a:srgbClr val="8769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049862" y="1520236"/>
              <a:ext cx="2981960" cy="1200785"/>
            </a:xfrm>
            <a:custGeom>
              <a:avLst/>
              <a:gdLst/>
              <a:ahLst/>
              <a:cxnLst/>
              <a:rect l="l" t="t" r="r" b="b"/>
              <a:pathLst>
                <a:path w="2981959" h="1200785">
                  <a:moveTo>
                    <a:pt x="2981522" y="0"/>
                  </a:moveTo>
                  <a:lnTo>
                    <a:pt x="0" y="0"/>
                  </a:lnTo>
                  <a:lnTo>
                    <a:pt x="0" y="1092327"/>
                  </a:lnTo>
                  <a:lnTo>
                    <a:pt x="8487" y="1134366"/>
                  </a:lnTo>
                  <a:lnTo>
                    <a:pt x="31632" y="1168696"/>
                  </a:lnTo>
                  <a:lnTo>
                    <a:pt x="65961" y="1191841"/>
                  </a:lnTo>
                  <a:lnTo>
                    <a:pt x="108001" y="1200328"/>
                  </a:lnTo>
                  <a:lnTo>
                    <a:pt x="2873520" y="1200328"/>
                  </a:lnTo>
                  <a:lnTo>
                    <a:pt x="2915559" y="1191841"/>
                  </a:lnTo>
                  <a:lnTo>
                    <a:pt x="2949889" y="1168696"/>
                  </a:lnTo>
                  <a:lnTo>
                    <a:pt x="2973034" y="1134366"/>
                  </a:lnTo>
                  <a:lnTo>
                    <a:pt x="2981522" y="1092327"/>
                  </a:lnTo>
                  <a:lnTo>
                    <a:pt x="2981522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7224991" y="1287105"/>
            <a:ext cx="14833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LightGBM</a:t>
            </a:r>
            <a:r>
              <a:rPr sz="1100" spc="-50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70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100" spc="-45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70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Stacking</a:t>
            </a:r>
            <a:endParaRPr sz="1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24991" y="1562574"/>
            <a:ext cx="2631440" cy="100330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80"/>
              </a:spcBef>
            </a:pPr>
            <a:r>
              <a:rPr sz="1100" spc="-8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Leaf-</a:t>
            </a:r>
            <a:r>
              <a:rPr sz="1100" spc="-9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wise</a:t>
            </a:r>
            <a:r>
              <a:rPr sz="1100" spc="-4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6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Meta</a:t>
            </a:r>
            <a:r>
              <a:rPr sz="1100" spc="-4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Ensemble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 marR="5080" algn="just">
              <a:lnSpc>
                <a:spcPct val="113000"/>
              </a:lnSpc>
              <a:spcBef>
                <a:spcPts val="380"/>
              </a:spcBef>
            </a:pPr>
            <a:r>
              <a:rPr sz="1000" spc="5" dirty="0">
                <a:solidFill>
                  <a:srgbClr val="93A3B8"/>
                </a:solidFill>
                <a:latin typeface="Arial MT"/>
                <a:cs typeface="Arial MT"/>
              </a:rPr>
              <a:t>Leaf-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wise</a:t>
            </a:r>
            <a:r>
              <a:rPr sz="1000" spc="-2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35" dirty="0">
                <a:solidFill>
                  <a:srgbClr val="93A3B8"/>
                </a:solidFill>
                <a:latin typeface="Arial MT"/>
                <a:cs typeface="Arial MT"/>
              </a:rPr>
              <a:t>tree</a:t>
            </a:r>
            <a:r>
              <a:rPr sz="1000" spc="-2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55" dirty="0">
                <a:solidFill>
                  <a:srgbClr val="93A3B8"/>
                </a:solidFill>
                <a:latin typeface="Arial MT"/>
                <a:cs typeface="Arial MT"/>
              </a:rPr>
              <a:t>growth</a:t>
            </a:r>
            <a:r>
              <a:rPr sz="1000" spc="-2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50" dirty="0">
                <a:solidFill>
                  <a:srgbClr val="93A3B8"/>
                </a:solidFill>
                <a:latin typeface="Arial MT"/>
                <a:cs typeface="Arial MT"/>
              </a:rPr>
              <a:t>algorithm</a:t>
            </a:r>
            <a:r>
              <a:rPr sz="1000" spc="-2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35" dirty="0">
                <a:solidFill>
                  <a:srgbClr val="93A3B8"/>
                </a:solidFill>
                <a:latin typeface="Arial MT"/>
                <a:cs typeface="Arial MT"/>
              </a:rPr>
              <a:t>paired</a:t>
            </a:r>
            <a:r>
              <a:rPr sz="1000" spc="-2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55" dirty="0">
                <a:solidFill>
                  <a:srgbClr val="93A3B8"/>
                </a:solidFill>
                <a:latin typeface="Arial MT"/>
                <a:cs typeface="Arial MT"/>
              </a:rPr>
              <a:t>with</a:t>
            </a:r>
            <a:r>
              <a:rPr sz="1000" spc="3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5" dirty="0">
                <a:solidFill>
                  <a:srgbClr val="93A3B8"/>
                </a:solidFill>
                <a:latin typeface="Arial MT"/>
                <a:cs typeface="Arial MT"/>
              </a:rPr>
              <a:t>a</a:t>
            </a:r>
            <a:r>
              <a:rPr sz="1000" spc="-8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20" dirty="0">
                <a:solidFill>
                  <a:srgbClr val="93A3B8"/>
                </a:solidFill>
                <a:latin typeface="Arial MT"/>
                <a:cs typeface="Arial MT"/>
              </a:rPr>
              <a:t>Logistic</a:t>
            </a:r>
            <a:r>
              <a:rPr sz="1000" spc="-8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Regression</a:t>
            </a:r>
            <a:r>
              <a:rPr sz="1000" spc="-8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20" dirty="0">
                <a:solidFill>
                  <a:srgbClr val="93A3B8"/>
                </a:solidFill>
                <a:latin typeface="Arial MT"/>
                <a:cs typeface="Arial MT"/>
              </a:rPr>
              <a:t>Meta-</a:t>
            </a:r>
            <a:r>
              <a:rPr sz="1000" spc="15" dirty="0">
                <a:solidFill>
                  <a:srgbClr val="93A3B8"/>
                </a:solidFill>
                <a:latin typeface="Arial MT"/>
                <a:cs typeface="Arial MT"/>
              </a:rPr>
              <a:t>Classifier</a:t>
            </a:r>
            <a:r>
              <a:rPr sz="1000" spc="-8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65" dirty="0">
                <a:solidFill>
                  <a:srgbClr val="93A3B8"/>
                </a:solidFill>
                <a:latin typeface="Arial MT"/>
                <a:cs typeface="Arial MT"/>
              </a:rPr>
              <a:t>to</a:t>
            </a:r>
            <a:r>
              <a:rPr sz="1000" spc="-8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20" dirty="0">
                <a:solidFill>
                  <a:srgbClr val="93A3B8"/>
                </a:solidFill>
                <a:latin typeface="Arial MT"/>
                <a:cs typeface="Arial MT"/>
              </a:rPr>
              <a:t>com-</a:t>
            </a:r>
            <a:r>
              <a:rPr sz="1000" spc="40" dirty="0">
                <a:solidFill>
                  <a:srgbClr val="93A3B8"/>
                </a:solidFill>
                <a:latin typeface="Arial MT"/>
                <a:cs typeface="Arial MT"/>
              </a:rPr>
              <a:t>bine</a:t>
            </a:r>
            <a:r>
              <a:rPr sz="1000" spc="9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base</a:t>
            </a:r>
            <a:r>
              <a:rPr sz="1000" spc="9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45" dirty="0">
                <a:solidFill>
                  <a:srgbClr val="93A3B8"/>
                </a:solidFill>
                <a:latin typeface="Arial MT"/>
                <a:cs typeface="Arial MT"/>
              </a:rPr>
              <a:t>estimator</a:t>
            </a:r>
            <a:r>
              <a:rPr sz="1000" spc="9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40" dirty="0">
                <a:solidFill>
                  <a:srgbClr val="93A3B8"/>
                </a:solidFill>
                <a:latin typeface="Arial MT"/>
                <a:cs typeface="Arial MT"/>
              </a:rPr>
              <a:t>probability</a:t>
            </a:r>
            <a:r>
              <a:rPr sz="1000" spc="9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35" dirty="0">
                <a:solidFill>
                  <a:srgbClr val="93A3B8"/>
                </a:solidFill>
                <a:latin typeface="Arial MT"/>
                <a:cs typeface="Arial MT"/>
              </a:rPr>
              <a:t>predictions</a:t>
            </a:r>
            <a:r>
              <a:rPr sz="1000" spc="1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30" dirty="0">
                <a:solidFill>
                  <a:srgbClr val="93A3B8"/>
                </a:solidFill>
                <a:latin typeface="Arial MT"/>
                <a:cs typeface="Arial MT"/>
              </a:rPr>
              <a:t>optimally.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48004" y="5380215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6324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Loan</a:t>
            </a:r>
            <a:r>
              <a:rPr spc="55" dirty="0"/>
              <a:t> </a:t>
            </a:r>
            <a:r>
              <a:rPr dirty="0"/>
              <a:t>Approval</a:t>
            </a:r>
            <a:r>
              <a:rPr spc="55" dirty="0"/>
              <a:t> </a:t>
            </a:r>
            <a:r>
              <a:rPr dirty="0"/>
              <a:t>Prediction</a:t>
            </a:r>
            <a:r>
              <a:rPr spc="55" dirty="0"/>
              <a:t> </a:t>
            </a:r>
            <a:r>
              <a:rPr dirty="0"/>
              <a:t>Using</a:t>
            </a:r>
            <a:r>
              <a:rPr spc="55" dirty="0"/>
              <a:t> </a:t>
            </a:r>
            <a:r>
              <a:rPr dirty="0"/>
              <a:t>Ensemble</a:t>
            </a:r>
            <a:r>
              <a:rPr spc="60" dirty="0"/>
              <a:t> </a:t>
            </a:r>
            <a:r>
              <a:rPr spc="-25" dirty="0"/>
              <a:t>ML</a:t>
            </a:r>
            <a:endParaRPr spc="-25" dirty="0"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Academic</a:t>
            </a:r>
            <a:r>
              <a:rPr spc="35" dirty="0"/>
              <a:t> </a:t>
            </a:r>
            <a:r>
              <a:rPr dirty="0"/>
              <a:t>Capstone</a:t>
            </a:r>
            <a:r>
              <a:rPr spc="35" dirty="0"/>
              <a:t> </a:t>
            </a:r>
            <a:r>
              <a:rPr spc="-10" dirty="0"/>
              <a:t>Presentation</a:t>
            </a:r>
            <a:endParaRPr spc="-1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Slide</a:t>
            </a:r>
            <a:r>
              <a:rPr spc="-30" dirty="0"/>
              <a:t> 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304" y="388560"/>
            <a:ext cx="1914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KL</a:t>
            </a:r>
            <a:r>
              <a:rPr sz="1000" spc="-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DEEMED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TO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BE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UNIVERSITY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83753" y="388560"/>
            <a:ext cx="36112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2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|</a:t>
            </a:r>
            <a:r>
              <a:rPr sz="1000" spc="20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DEPARTMENT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OF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COMPUTER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SCIENCE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ENGINEERING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51875" y="388560"/>
            <a:ext cx="1304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5" dirty="0">
                <a:solidFill>
                  <a:srgbClr val="93A3B8"/>
                </a:solidFill>
                <a:latin typeface="Arial MT"/>
                <a:cs typeface="Arial MT"/>
              </a:rPr>
              <a:t>B.TECH</a:t>
            </a:r>
            <a:r>
              <a:rPr sz="1000" spc="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14" dirty="0">
                <a:solidFill>
                  <a:srgbClr val="93A3B8"/>
                </a:solidFill>
                <a:latin typeface="Arial MT"/>
                <a:cs typeface="Arial MT"/>
              </a:rPr>
              <a:t>CSE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(2026–</a:t>
            </a:r>
            <a:r>
              <a:rPr sz="1000" spc="-25" dirty="0">
                <a:solidFill>
                  <a:srgbClr val="93A3B8"/>
                </a:solidFill>
                <a:latin typeface="Arial MT"/>
                <a:cs typeface="Arial MT"/>
              </a:rPr>
              <a:t>27)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8004" y="74540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10121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5304" y="828862"/>
            <a:ext cx="32702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Model</a:t>
            </a:r>
            <a:r>
              <a:rPr sz="1400" spc="-8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11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Accuracy</a:t>
            </a:r>
            <a:r>
              <a:rPr sz="1400" spc="-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1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400" spc="-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5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Metric</a:t>
            </a:r>
            <a:r>
              <a:rPr sz="1400" spc="-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2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Highlights</a:t>
            </a:r>
            <a:endParaRPr sz="14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8004" y="1284712"/>
            <a:ext cx="3007360" cy="1000125"/>
            <a:chOff x="648004" y="1284712"/>
            <a:chExt cx="3007360" cy="1000125"/>
          </a:xfrm>
        </p:grpSpPr>
        <p:sp>
          <p:nvSpPr>
            <p:cNvPr id="8" name="object 8"/>
            <p:cNvSpPr/>
            <p:nvPr/>
          </p:nvSpPr>
          <p:spPr>
            <a:xfrm>
              <a:off x="648004" y="1284712"/>
              <a:ext cx="3007360" cy="1000125"/>
            </a:xfrm>
            <a:custGeom>
              <a:avLst/>
              <a:gdLst/>
              <a:ahLst/>
              <a:cxnLst/>
              <a:rect l="l" t="t" r="r" b="b"/>
              <a:pathLst>
                <a:path w="3007360" h="1000125">
                  <a:moveTo>
                    <a:pt x="2886173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4"/>
                  </a:lnTo>
                  <a:lnTo>
                    <a:pt x="0" y="878957"/>
                  </a:lnTo>
                  <a:lnTo>
                    <a:pt x="9481" y="925921"/>
                  </a:lnTo>
                  <a:lnTo>
                    <a:pt x="35338" y="964272"/>
                  </a:lnTo>
                  <a:lnTo>
                    <a:pt x="73689" y="990129"/>
                  </a:lnTo>
                  <a:lnTo>
                    <a:pt x="120653" y="999610"/>
                  </a:lnTo>
                  <a:lnTo>
                    <a:pt x="2886173" y="999610"/>
                  </a:lnTo>
                  <a:lnTo>
                    <a:pt x="2933137" y="990129"/>
                  </a:lnTo>
                  <a:lnTo>
                    <a:pt x="2971488" y="964272"/>
                  </a:lnTo>
                  <a:lnTo>
                    <a:pt x="2997345" y="925921"/>
                  </a:lnTo>
                  <a:lnTo>
                    <a:pt x="3006827" y="878957"/>
                  </a:lnTo>
                  <a:lnTo>
                    <a:pt x="3006827" y="120654"/>
                  </a:lnTo>
                  <a:lnTo>
                    <a:pt x="2997345" y="73689"/>
                  </a:lnTo>
                  <a:lnTo>
                    <a:pt x="2971488" y="35338"/>
                  </a:lnTo>
                  <a:lnTo>
                    <a:pt x="2933137" y="9481"/>
                  </a:lnTo>
                  <a:lnTo>
                    <a:pt x="2886173" y="0"/>
                  </a:lnTo>
                  <a:close/>
                </a:path>
              </a:pathLst>
            </a:custGeom>
            <a:solidFill>
              <a:srgbClr val="368B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0657" y="1297365"/>
              <a:ext cx="2981960" cy="974725"/>
            </a:xfrm>
            <a:custGeom>
              <a:avLst/>
              <a:gdLst/>
              <a:ahLst/>
              <a:cxnLst/>
              <a:rect l="l" t="t" r="r" b="b"/>
              <a:pathLst>
                <a:path w="2981960" h="974725">
                  <a:moveTo>
                    <a:pt x="2873520" y="0"/>
                  </a:moveTo>
                  <a:lnTo>
                    <a:pt x="108001" y="0"/>
                  </a:lnTo>
                  <a:lnTo>
                    <a:pt x="65961" y="8487"/>
                  </a:lnTo>
                  <a:lnTo>
                    <a:pt x="31632" y="31632"/>
                  </a:lnTo>
                  <a:lnTo>
                    <a:pt x="8487" y="65962"/>
                  </a:lnTo>
                  <a:lnTo>
                    <a:pt x="0" y="108001"/>
                  </a:lnTo>
                  <a:lnTo>
                    <a:pt x="0" y="866304"/>
                  </a:lnTo>
                  <a:lnTo>
                    <a:pt x="8487" y="908343"/>
                  </a:lnTo>
                  <a:lnTo>
                    <a:pt x="31632" y="942672"/>
                  </a:lnTo>
                  <a:lnTo>
                    <a:pt x="65961" y="965818"/>
                  </a:lnTo>
                  <a:lnTo>
                    <a:pt x="108001" y="974305"/>
                  </a:lnTo>
                  <a:lnTo>
                    <a:pt x="2873520" y="974305"/>
                  </a:lnTo>
                  <a:lnTo>
                    <a:pt x="2915559" y="965818"/>
                  </a:lnTo>
                  <a:lnTo>
                    <a:pt x="2949889" y="942672"/>
                  </a:lnTo>
                  <a:lnTo>
                    <a:pt x="2973034" y="908343"/>
                  </a:lnTo>
                  <a:lnTo>
                    <a:pt x="2981522" y="866304"/>
                  </a:lnTo>
                  <a:lnTo>
                    <a:pt x="2981522" y="108001"/>
                  </a:lnTo>
                  <a:lnTo>
                    <a:pt x="2973034" y="65962"/>
                  </a:lnTo>
                  <a:lnTo>
                    <a:pt x="2949889" y="31632"/>
                  </a:lnTo>
                  <a:lnTo>
                    <a:pt x="2915559" y="8487"/>
                  </a:lnTo>
                  <a:lnTo>
                    <a:pt x="2873520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383842" y="1312162"/>
            <a:ext cx="1535430" cy="83375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2450" spc="-1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98.2%</a:t>
            </a:r>
            <a:endParaRPr sz="2450">
              <a:latin typeface="Arial Black" panose="020B0A04020102020204"/>
              <a:cs typeface="Arial Black" panose="020B0A04020102020204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1100" spc="-5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Overall</a:t>
            </a:r>
            <a:r>
              <a:rPr sz="1100" spc="-2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Accuracy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Stacked</a:t>
            </a:r>
            <a:r>
              <a:rPr sz="1000" spc="16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Ensemble</a:t>
            </a:r>
            <a:r>
              <a:rPr sz="1000" spc="17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Model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42600" y="1284397"/>
            <a:ext cx="3007360" cy="1000125"/>
            <a:chOff x="3842600" y="1284397"/>
            <a:chExt cx="3007360" cy="1000125"/>
          </a:xfrm>
        </p:grpSpPr>
        <p:sp>
          <p:nvSpPr>
            <p:cNvPr id="12" name="object 12"/>
            <p:cNvSpPr/>
            <p:nvPr/>
          </p:nvSpPr>
          <p:spPr>
            <a:xfrm>
              <a:off x="3842600" y="1284397"/>
              <a:ext cx="3007360" cy="1000125"/>
            </a:xfrm>
            <a:custGeom>
              <a:avLst/>
              <a:gdLst/>
              <a:ahLst/>
              <a:cxnLst/>
              <a:rect l="l" t="t" r="r" b="b"/>
              <a:pathLst>
                <a:path w="3007359" h="1000125">
                  <a:moveTo>
                    <a:pt x="2886173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879271"/>
                  </a:lnTo>
                  <a:lnTo>
                    <a:pt x="9481" y="926236"/>
                  </a:lnTo>
                  <a:lnTo>
                    <a:pt x="35338" y="964587"/>
                  </a:lnTo>
                  <a:lnTo>
                    <a:pt x="73689" y="990444"/>
                  </a:lnTo>
                  <a:lnTo>
                    <a:pt x="120653" y="999925"/>
                  </a:lnTo>
                  <a:lnTo>
                    <a:pt x="2886173" y="999925"/>
                  </a:lnTo>
                  <a:lnTo>
                    <a:pt x="2933137" y="990444"/>
                  </a:lnTo>
                  <a:lnTo>
                    <a:pt x="2971488" y="964587"/>
                  </a:lnTo>
                  <a:lnTo>
                    <a:pt x="2997345" y="926236"/>
                  </a:lnTo>
                  <a:lnTo>
                    <a:pt x="3006827" y="879271"/>
                  </a:lnTo>
                  <a:lnTo>
                    <a:pt x="3006827" y="120653"/>
                  </a:lnTo>
                  <a:lnTo>
                    <a:pt x="2997345" y="73689"/>
                  </a:lnTo>
                  <a:lnTo>
                    <a:pt x="2971488" y="35338"/>
                  </a:lnTo>
                  <a:lnTo>
                    <a:pt x="2933137" y="9481"/>
                  </a:lnTo>
                  <a:lnTo>
                    <a:pt x="2886173" y="0"/>
                  </a:lnTo>
                  <a:close/>
                </a:path>
              </a:pathLst>
            </a:custGeom>
            <a:solidFill>
              <a:srgbClr val="3398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855253" y="1297050"/>
              <a:ext cx="2981960" cy="974725"/>
            </a:xfrm>
            <a:custGeom>
              <a:avLst/>
              <a:gdLst/>
              <a:ahLst/>
              <a:cxnLst/>
              <a:rect l="l" t="t" r="r" b="b"/>
              <a:pathLst>
                <a:path w="2981959" h="974725">
                  <a:moveTo>
                    <a:pt x="2873520" y="0"/>
                  </a:moveTo>
                  <a:lnTo>
                    <a:pt x="108001" y="0"/>
                  </a:lnTo>
                  <a:lnTo>
                    <a:pt x="65961" y="8487"/>
                  </a:lnTo>
                  <a:lnTo>
                    <a:pt x="31632" y="31632"/>
                  </a:lnTo>
                  <a:lnTo>
                    <a:pt x="8487" y="65962"/>
                  </a:lnTo>
                  <a:lnTo>
                    <a:pt x="0" y="108001"/>
                  </a:lnTo>
                  <a:lnTo>
                    <a:pt x="0" y="866619"/>
                  </a:lnTo>
                  <a:lnTo>
                    <a:pt x="8487" y="908658"/>
                  </a:lnTo>
                  <a:lnTo>
                    <a:pt x="31632" y="942987"/>
                  </a:lnTo>
                  <a:lnTo>
                    <a:pt x="65961" y="966133"/>
                  </a:lnTo>
                  <a:lnTo>
                    <a:pt x="108001" y="974620"/>
                  </a:lnTo>
                  <a:lnTo>
                    <a:pt x="2873520" y="974620"/>
                  </a:lnTo>
                  <a:lnTo>
                    <a:pt x="2915559" y="966133"/>
                  </a:lnTo>
                  <a:lnTo>
                    <a:pt x="2949889" y="942987"/>
                  </a:lnTo>
                  <a:lnTo>
                    <a:pt x="2973034" y="908658"/>
                  </a:lnTo>
                  <a:lnTo>
                    <a:pt x="2981522" y="866619"/>
                  </a:lnTo>
                  <a:lnTo>
                    <a:pt x="2981522" y="108001"/>
                  </a:lnTo>
                  <a:lnTo>
                    <a:pt x="2973034" y="65962"/>
                  </a:lnTo>
                  <a:lnTo>
                    <a:pt x="2949889" y="31632"/>
                  </a:lnTo>
                  <a:lnTo>
                    <a:pt x="2915559" y="8487"/>
                  </a:lnTo>
                  <a:lnTo>
                    <a:pt x="2873520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639754" y="1312162"/>
            <a:ext cx="1412875" cy="83375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2450" spc="-20" dirty="0">
                <a:solidFill>
                  <a:srgbClr val="33D299"/>
                </a:solidFill>
                <a:latin typeface="Arial Black" panose="020B0A04020102020204"/>
                <a:cs typeface="Arial Black" panose="020B0A04020102020204"/>
              </a:rPr>
              <a:t>0.99</a:t>
            </a:r>
            <a:endParaRPr sz="2450">
              <a:latin typeface="Arial Black" panose="020B0A04020102020204"/>
              <a:cs typeface="Arial Black" panose="020B0A04020102020204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1100" spc="-10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ROC-</a:t>
            </a:r>
            <a:r>
              <a:rPr sz="1100" spc="-12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AUC</a:t>
            </a:r>
            <a:r>
              <a:rPr sz="1100" spc="4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2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Score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Area</a:t>
            </a:r>
            <a:r>
              <a:rPr sz="1000" spc="13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Under</a:t>
            </a:r>
            <a:r>
              <a:rPr sz="1000" spc="12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30" dirty="0">
                <a:solidFill>
                  <a:srgbClr val="93A3B8"/>
                </a:solidFill>
                <a:latin typeface="Arial MT"/>
                <a:cs typeface="Arial MT"/>
              </a:rPr>
              <a:t>ROC</a:t>
            </a:r>
            <a:r>
              <a:rPr sz="1000" spc="13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Curve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37209" y="1284712"/>
            <a:ext cx="3007360" cy="1000125"/>
            <a:chOff x="7037209" y="1284712"/>
            <a:chExt cx="3007360" cy="1000125"/>
          </a:xfrm>
        </p:grpSpPr>
        <p:sp>
          <p:nvSpPr>
            <p:cNvPr id="16" name="object 16"/>
            <p:cNvSpPr/>
            <p:nvPr/>
          </p:nvSpPr>
          <p:spPr>
            <a:xfrm>
              <a:off x="7037209" y="1284712"/>
              <a:ext cx="3007360" cy="1000125"/>
            </a:xfrm>
            <a:custGeom>
              <a:avLst/>
              <a:gdLst/>
              <a:ahLst/>
              <a:cxnLst/>
              <a:rect l="l" t="t" r="r" b="b"/>
              <a:pathLst>
                <a:path w="3007359" h="1000125">
                  <a:moveTo>
                    <a:pt x="2886173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4"/>
                  </a:lnTo>
                  <a:lnTo>
                    <a:pt x="0" y="878957"/>
                  </a:lnTo>
                  <a:lnTo>
                    <a:pt x="9481" y="925921"/>
                  </a:lnTo>
                  <a:lnTo>
                    <a:pt x="35338" y="964272"/>
                  </a:lnTo>
                  <a:lnTo>
                    <a:pt x="73689" y="990129"/>
                  </a:lnTo>
                  <a:lnTo>
                    <a:pt x="120653" y="999610"/>
                  </a:lnTo>
                  <a:lnTo>
                    <a:pt x="2886173" y="999610"/>
                  </a:lnTo>
                  <a:lnTo>
                    <a:pt x="2933137" y="990129"/>
                  </a:lnTo>
                  <a:lnTo>
                    <a:pt x="2971488" y="964272"/>
                  </a:lnTo>
                  <a:lnTo>
                    <a:pt x="2997345" y="925921"/>
                  </a:lnTo>
                  <a:lnTo>
                    <a:pt x="3006827" y="878957"/>
                  </a:lnTo>
                  <a:lnTo>
                    <a:pt x="3006827" y="120654"/>
                  </a:lnTo>
                  <a:lnTo>
                    <a:pt x="2997345" y="73689"/>
                  </a:lnTo>
                  <a:lnTo>
                    <a:pt x="2971488" y="35338"/>
                  </a:lnTo>
                  <a:lnTo>
                    <a:pt x="2933137" y="9481"/>
                  </a:lnTo>
                  <a:lnTo>
                    <a:pt x="2886173" y="0"/>
                  </a:lnTo>
                  <a:close/>
                </a:path>
              </a:pathLst>
            </a:custGeom>
            <a:solidFill>
              <a:srgbClr val="8769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049862" y="1297365"/>
              <a:ext cx="2981960" cy="974725"/>
            </a:xfrm>
            <a:custGeom>
              <a:avLst/>
              <a:gdLst/>
              <a:ahLst/>
              <a:cxnLst/>
              <a:rect l="l" t="t" r="r" b="b"/>
              <a:pathLst>
                <a:path w="2981959" h="974725">
                  <a:moveTo>
                    <a:pt x="2873520" y="0"/>
                  </a:moveTo>
                  <a:lnTo>
                    <a:pt x="108001" y="0"/>
                  </a:lnTo>
                  <a:lnTo>
                    <a:pt x="65961" y="8487"/>
                  </a:lnTo>
                  <a:lnTo>
                    <a:pt x="31632" y="31632"/>
                  </a:lnTo>
                  <a:lnTo>
                    <a:pt x="8487" y="65962"/>
                  </a:lnTo>
                  <a:lnTo>
                    <a:pt x="0" y="108001"/>
                  </a:lnTo>
                  <a:lnTo>
                    <a:pt x="0" y="866304"/>
                  </a:lnTo>
                  <a:lnTo>
                    <a:pt x="8487" y="908343"/>
                  </a:lnTo>
                  <a:lnTo>
                    <a:pt x="31632" y="942672"/>
                  </a:lnTo>
                  <a:lnTo>
                    <a:pt x="65961" y="965818"/>
                  </a:lnTo>
                  <a:lnTo>
                    <a:pt x="108001" y="974305"/>
                  </a:lnTo>
                  <a:lnTo>
                    <a:pt x="2873520" y="974305"/>
                  </a:lnTo>
                  <a:lnTo>
                    <a:pt x="2915559" y="965818"/>
                  </a:lnTo>
                  <a:lnTo>
                    <a:pt x="2949889" y="942672"/>
                  </a:lnTo>
                  <a:lnTo>
                    <a:pt x="2973034" y="908343"/>
                  </a:lnTo>
                  <a:lnTo>
                    <a:pt x="2981522" y="866304"/>
                  </a:lnTo>
                  <a:lnTo>
                    <a:pt x="2981522" y="108001"/>
                  </a:lnTo>
                  <a:lnTo>
                    <a:pt x="2973034" y="65962"/>
                  </a:lnTo>
                  <a:lnTo>
                    <a:pt x="2949889" y="31632"/>
                  </a:lnTo>
                  <a:lnTo>
                    <a:pt x="2915559" y="8487"/>
                  </a:lnTo>
                  <a:lnTo>
                    <a:pt x="2873520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7736243" y="1312162"/>
            <a:ext cx="1609090" cy="83375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2450" spc="-10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95.8%</a:t>
            </a:r>
            <a:endParaRPr sz="2450">
              <a:latin typeface="Arial Black" panose="020B0A04020102020204"/>
              <a:cs typeface="Arial Black" panose="020B0A04020102020204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1100" spc="-4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Default</a:t>
            </a:r>
            <a:r>
              <a:rPr sz="1100" spc="-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Recall</a:t>
            </a:r>
            <a:r>
              <a:rPr sz="110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2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Rate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1000" spc="20" dirty="0">
                <a:solidFill>
                  <a:srgbClr val="93A3B8"/>
                </a:solidFill>
                <a:latin typeface="Arial MT"/>
                <a:cs typeface="Arial MT"/>
              </a:rPr>
              <a:t>Default</a:t>
            </a:r>
            <a:r>
              <a:rPr sz="1000" spc="30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20" dirty="0">
                <a:solidFill>
                  <a:srgbClr val="93A3B8"/>
                </a:solidFill>
                <a:latin typeface="Arial MT"/>
                <a:cs typeface="Arial MT"/>
              </a:rPr>
              <a:t>Identification</a:t>
            </a:r>
            <a:r>
              <a:rPr sz="1000" spc="31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93A3B8"/>
                </a:solidFill>
                <a:latin typeface="Arial MT"/>
                <a:cs typeface="Arial MT"/>
              </a:rPr>
              <a:t>Rate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8004" y="2548484"/>
            <a:ext cx="9396730" cy="1108075"/>
            <a:chOff x="648004" y="2548484"/>
            <a:chExt cx="9396730" cy="1108075"/>
          </a:xfrm>
        </p:grpSpPr>
        <p:sp>
          <p:nvSpPr>
            <p:cNvPr id="20" name="object 20"/>
            <p:cNvSpPr/>
            <p:nvPr/>
          </p:nvSpPr>
          <p:spPr>
            <a:xfrm>
              <a:off x="648004" y="2548484"/>
              <a:ext cx="9396730" cy="1108075"/>
            </a:xfrm>
            <a:custGeom>
              <a:avLst/>
              <a:gdLst/>
              <a:ahLst/>
              <a:cxnLst/>
              <a:rect l="l" t="t" r="r" b="b"/>
              <a:pathLst>
                <a:path w="9396730" h="1108075">
                  <a:moveTo>
                    <a:pt x="9275467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986911"/>
                  </a:lnTo>
                  <a:lnTo>
                    <a:pt x="9481" y="1033876"/>
                  </a:lnTo>
                  <a:lnTo>
                    <a:pt x="35338" y="1072227"/>
                  </a:lnTo>
                  <a:lnTo>
                    <a:pt x="73689" y="1098084"/>
                  </a:lnTo>
                  <a:lnTo>
                    <a:pt x="120653" y="1107565"/>
                  </a:lnTo>
                  <a:lnTo>
                    <a:pt x="9275467" y="1107565"/>
                  </a:lnTo>
                  <a:lnTo>
                    <a:pt x="9322431" y="1098084"/>
                  </a:lnTo>
                  <a:lnTo>
                    <a:pt x="9360782" y="1072227"/>
                  </a:lnTo>
                  <a:lnTo>
                    <a:pt x="9386639" y="1033876"/>
                  </a:lnTo>
                  <a:lnTo>
                    <a:pt x="9396121" y="986911"/>
                  </a:lnTo>
                  <a:lnTo>
                    <a:pt x="9396121" y="120653"/>
                  </a:lnTo>
                  <a:lnTo>
                    <a:pt x="9386639" y="73689"/>
                  </a:lnTo>
                  <a:lnTo>
                    <a:pt x="9360782" y="35338"/>
                  </a:lnTo>
                  <a:lnTo>
                    <a:pt x="9322431" y="9481"/>
                  </a:lnTo>
                  <a:lnTo>
                    <a:pt x="9275467" y="0"/>
                  </a:lnTo>
                  <a:close/>
                </a:path>
              </a:pathLst>
            </a:custGeom>
            <a:solidFill>
              <a:srgbClr val="3340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60657" y="2784337"/>
              <a:ext cx="9371330" cy="859155"/>
            </a:xfrm>
            <a:custGeom>
              <a:avLst/>
              <a:gdLst/>
              <a:ahLst/>
              <a:cxnLst/>
              <a:rect l="l" t="t" r="r" b="b"/>
              <a:pathLst>
                <a:path w="9371330" h="859154">
                  <a:moveTo>
                    <a:pt x="9370815" y="0"/>
                  </a:moveTo>
                  <a:lnTo>
                    <a:pt x="0" y="0"/>
                  </a:lnTo>
                  <a:lnTo>
                    <a:pt x="0" y="751058"/>
                  </a:lnTo>
                  <a:lnTo>
                    <a:pt x="8487" y="793097"/>
                  </a:lnTo>
                  <a:lnTo>
                    <a:pt x="31632" y="827427"/>
                  </a:lnTo>
                  <a:lnTo>
                    <a:pt x="65961" y="850572"/>
                  </a:lnTo>
                  <a:lnTo>
                    <a:pt x="108001" y="859059"/>
                  </a:lnTo>
                  <a:lnTo>
                    <a:pt x="9262814" y="859059"/>
                  </a:lnTo>
                  <a:lnTo>
                    <a:pt x="9304853" y="850572"/>
                  </a:lnTo>
                  <a:lnTo>
                    <a:pt x="9339183" y="827427"/>
                  </a:lnTo>
                  <a:lnTo>
                    <a:pt x="9362328" y="793097"/>
                  </a:lnTo>
                  <a:lnTo>
                    <a:pt x="9370815" y="751058"/>
                  </a:lnTo>
                  <a:lnTo>
                    <a:pt x="9370815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835786" y="2551200"/>
            <a:ext cx="9020810" cy="9372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Financial</a:t>
            </a:r>
            <a:r>
              <a:rPr sz="1100" spc="-4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Risk</a:t>
            </a:r>
            <a:r>
              <a:rPr sz="1100" spc="-3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Metric</a:t>
            </a:r>
            <a:r>
              <a:rPr sz="1100" spc="-4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Priority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 marR="5080">
              <a:lnSpc>
                <a:spcPct val="103000"/>
              </a:lnSpc>
              <a:spcBef>
                <a:spcPts val="1405"/>
              </a:spcBef>
            </a:pPr>
            <a:r>
              <a:rPr sz="1100" spc="60" dirty="0">
                <a:solidFill>
                  <a:srgbClr val="F8FAFC"/>
                </a:solidFill>
                <a:latin typeface="Arial MT"/>
                <a:cs typeface="Arial MT"/>
              </a:rPr>
              <a:t>In</a:t>
            </a:r>
            <a:r>
              <a:rPr sz="1100" spc="18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credit</a:t>
            </a:r>
            <a:r>
              <a:rPr sz="1100" spc="18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decision</a:t>
            </a:r>
            <a:r>
              <a:rPr sz="1100" spc="19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systems,</a:t>
            </a:r>
            <a:r>
              <a:rPr sz="1100" spc="21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False</a:t>
            </a:r>
            <a:r>
              <a:rPr sz="1100" spc="12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6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Negatives</a:t>
            </a:r>
            <a:r>
              <a:rPr sz="1100" spc="12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(approving</a:t>
            </a:r>
            <a:r>
              <a:rPr sz="1100" spc="19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a</a:t>
            </a:r>
            <a:r>
              <a:rPr sz="1100" spc="19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loan</a:t>
            </a:r>
            <a:r>
              <a:rPr sz="1100" spc="18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55" dirty="0">
                <a:solidFill>
                  <a:srgbClr val="F8FAFC"/>
                </a:solidFill>
                <a:latin typeface="Arial MT"/>
                <a:cs typeface="Arial MT"/>
              </a:rPr>
              <a:t>that</a:t>
            </a:r>
            <a:r>
              <a:rPr sz="1100" spc="19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eventually</a:t>
            </a:r>
            <a:r>
              <a:rPr sz="1100" spc="18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defaults)</a:t>
            </a:r>
            <a:r>
              <a:rPr sz="1100" spc="19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carry</a:t>
            </a:r>
            <a:r>
              <a:rPr sz="1100" spc="18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severe</a:t>
            </a:r>
            <a:r>
              <a:rPr sz="1100" spc="19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financial</a:t>
            </a:r>
            <a:r>
              <a:rPr sz="1100" spc="19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loss</a:t>
            </a:r>
            <a:r>
              <a:rPr sz="1100" spc="18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penalties</a:t>
            </a:r>
            <a:r>
              <a:rPr sz="1100" spc="19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compared</a:t>
            </a:r>
            <a:r>
              <a:rPr sz="1100" spc="18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40" dirty="0">
                <a:solidFill>
                  <a:srgbClr val="F8FAFC"/>
                </a:solidFill>
                <a:latin typeface="Arial MT"/>
                <a:cs typeface="Arial MT"/>
              </a:rPr>
              <a:t>to </a:t>
            </a:r>
            <a:r>
              <a:rPr sz="1100" spc="-20" dirty="0">
                <a:solidFill>
                  <a:srgbClr val="F8FAFC"/>
                </a:solidFill>
                <a:latin typeface="Arial MT"/>
                <a:cs typeface="Arial MT"/>
              </a:rPr>
              <a:t>False</a:t>
            </a:r>
            <a:r>
              <a:rPr sz="1100" spc="-3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Positives.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Our</a:t>
            </a:r>
            <a:r>
              <a:rPr sz="1100" spc="12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optimized</a:t>
            </a:r>
            <a:r>
              <a:rPr sz="1100" spc="12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Stacked</a:t>
            </a:r>
            <a:r>
              <a:rPr sz="1100" spc="12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Meta-Classifier</a:t>
            </a:r>
            <a:r>
              <a:rPr sz="1100" spc="12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achieves</a:t>
            </a:r>
            <a:r>
              <a:rPr sz="1100" spc="12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a</a:t>
            </a:r>
            <a:r>
              <a:rPr sz="1100" spc="12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50" dirty="0">
                <a:solidFill>
                  <a:srgbClr val="93A3B8"/>
                </a:solidFill>
                <a:latin typeface="Arial MT"/>
                <a:cs typeface="Arial MT"/>
              </a:rPr>
              <a:t>high</a:t>
            </a:r>
            <a:r>
              <a:rPr sz="1100" spc="12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-110" dirty="0">
                <a:solidFill>
                  <a:srgbClr val="93A3B8"/>
                </a:solidFill>
                <a:latin typeface="Arial Black" panose="020B0A04020102020204"/>
                <a:cs typeface="Arial Black" panose="020B0A04020102020204"/>
              </a:rPr>
              <a:t>95.8%</a:t>
            </a:r>
            <a:r>
              <a:rPr sz="1100" spc="65" dirty="0">
                <a:solidFill>
                  <a:srgbClr val="93A3B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0" dirty="0">
                <a:solidFill>
                  <a:srgbClr val="93A3B8"/>
                </a:solidFill>
                <a:latin typeface="Arial Black" panose="020B0A04020102020204"/>
                <a:cs typeface="Arial Black" panose="020B0A04020102020204"/>
              </a:rPr>
              <a:t>Recall</a:t>
            </a:r>
            <a:r>
              <a:rPr sz="1100" spc="65" dirty="0">
                <a:solidFill>
                  <a:srgbClr val="93A3B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on</a:t>
            </a:r>
            <a:r>
              <a:rPr sz="1100" spc="12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defaulting</a:t>
            </a:r>
            <a:r>
              <a:rPr sz="1100" spc="12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applicants,</a:t>
            </a:r>
            <a:r>
              <a:rPr sz="1100" spc="12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safeguarding</a:t>
            </a:r>
            <a:r>
              <a:rPr sz="1100" spc="12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45" dirty="0">
                <a:solidFill>
                  <a:srgbClr val="93A3B8"/>
                </a:solidFill>
                <a:latin typeface="Arial MT"/>
                <a:cs typeface="Arial MT"/>
              </a:rPr>
              <a:t>institutional</a:t>
            </a:r>
            <a:r>
              <a:rPr sz="1100" spc="12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capital</a:t>
            </a:r>
            <a:r>
              <a:rPr sz="1100" spc="12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3A3B8"/>
                </a:solidFill>
                <a:latin typeface="Arial MT"/>
                <a:cs typeface="Arial MT"/>
              </a:rPr>
              <a:t>reserves.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48004" y="5380215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6324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Loan</a:t>
            </a:r>
            <a:r>
              <a:rPr spc="55" dirty="0"/>
              <a:t> </a:t>
            </a:r>
            <a:r>
              <a:rPr dirty="0"/>
              <a:t>Approval</a:t>
            </a:r>
            <a:r>
              <a:rPr spc="55" dirty="0"/>
              <a:t> </a:t>
            </a:r>
            <a:r>
              <a:rPr dirty="0"/>
              <a:t>Prediction</a:t>
            </a:r>
            <a:r>
              <a:rPr spc="55" dirty="0"/>
              <a:t> </a:t>
            </a:r>
            <a:r>
              <a:rPr dirty="0"/>
              <a:t>Using</a:t>
            </a:r>
            <a:r>
              <a:rPr spc="55" dirty="0"/>
              <a:t> </a:t>
            </a:r>
            <a:r>
              <a:rPr dirty="0"/>
              <a:t>Ensemble</a:t>
            </a:r>
            <a:r>
              <a:rPr spc="60" dirty="0"/>
              <a:t> </a:t>
            </a:r>
            <a:r>
              <a:rPr spc="-25" dirty="0"/>
              <a:t>ML</a:t>
            </a:r>
            <a:endParaRPr spc="-25" dirty="0"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Academic</a:t>
            </a:r>
            <a:r>
              <a:rPr spc="35" dirty="0"/>
              <a:t> </a:t>
            </a:r>
            <a:r>
              <a:rPr dirty="0"/>
              <a:t>Capstone</a:t>
            </a:r>
            <a:r>
              <a:rPr spc="35" dirty="0"/>
              <a:t> </a:t>
            </a:r>
            <a:r>
              <a:rPr spc="-10" dirty="0"/>
              <a:t>Presentation</a:t>
            </a:r>
            <a:endParaRPr spc="-10" dirty="0"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Slide</a:t>
            </a:r>
            <a:r>
              <a:rPr spc="-30" dirty="0"/>
              <a:t> 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304" y="388560"/>
            <a:ext cx="1914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KL</a:t>
            </a:r>
            <a:r>
              <a:rPr sz="1000" spc="-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DEEMED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TO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BE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UNIVERSITY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83753" y="388560"/>
            <a:ext cx="36112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2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|</a:t>
            </a:r>
            <a:r>
              <a:rPr sz="1000" spc="20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DEPARTMENT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OF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COMPUTER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SCIENCE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ENGINEERING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51875" y="388560"/>
            <a:ext cx="1304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5" dirty="0">
                <a:solidFill>
                  <a:srgbClr val="93A3B8"/>
                </a:solidFill>
                <a:latin typeface="Arial MT"/>
                <a:cs typeface="Arial MT"/>
              </a:rPr>
              <a:t>B.TECH</a:t>
            </a:r>
            <a:r>
              <a:rPr sz="1000" spc="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14" dirty="0">
                <a:solidFill>
                  <a:srgbClr val="93A3B8"/>
                </a:solidFill>
                <a:latin typeface="Arial MT"/>
                <a:cs typeface="Arial MT"/>
              </a:rPr>
              <a:t>CSE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(2026–</a:t>
            </a:r>
            <a:r>
              <a:rPr sz="1000" spc="-25" dirty="0">
                <a:solidFill>
                  <a:srgbClr val="93A3B8"/>
                </a:solidFill>
                <a:latin typeface="Arial MT"/>
                <a:cs typeface="Arial MT"/>
              </a:rPr>
              <a:t>27)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8004" y="74540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10121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5304" y="828862"/>
            <a:ext cx="33597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Model</a:t>
            </a:r>
            <a:r>
              <a:rPr sz="1400" spc="-5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6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Performance</a:t>
            </a:r>
            <a:r>
              <a:rPr sz="1400" spc="-4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5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Evaluation</a:t>
            </a:r>
            <a:r>
              <a:rPr sz="1400" spc="-4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8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Table</a:t>
            </a:r>
            <a:endParaRPr sz="14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8004" y="1357774"/>
            <a:ext cx="9396730" cy="1446530"/>
            <a:chOff x="648004" y="1357774"/>
            <a:chExt cx="9396730" cy="1446530"/>
          </a:xfrm>
        </p:grpSpPr>
        <p:sp>
          <p:nvSpPr>
            <p:cNvPr id="8" name="object 8"/>
            <p:cNvSpPr/>
            <p:nvPr/>
          </p:nvSpPr>
          <p:spPr>
            <a:xfrm>
              <a:off x="648004" y="1357774"/>
              <a:ext cx="9396730" cy="1446530"/>
            </a:xfrm>
            <a:custGeom>
              <a:avLst/>
              <a:gdLst/>
              <a:ahLst/>
              <a:cxnLst/>
              <a:rect l="l" t="t" r="r" b="b"/>
              <a:pathLst>
                <a:path w="9396730" h="1446530">
                  <a:moveTo>
                    <a:pt x="9275467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4"/>
                  </a:lnTo>
                  <a:lnTo>
                    <a:pt x="0" y="1325744"/>
                  </a:lnTo>
                  <a:lnTo>
                    <a:pt x="9481" y="1372708"/>
                  </a:lnTo>
                  <a:lnTo>
                    <a:pt x="35338" y="1411059"/>
                  </a:lnTo>
                  <a:lnTo>
                    <a:pt x="73689" y="1436916"/>
                  </a:lnTo>
                  <a:lnTo>
                    <a:pt x="120653" y="1446398"/>
                  </a:lnTo>
                  <a:lnTo>
                    <a:pt x="9275467" y="1446398"/>
                  </a:lnTo>
                  <a:lnTo>
                    <a:pt x="9322431" y="1436916"/>
                  </a:lnTo>
                  <a:lnTo>
                    <a:pt x="9360782" y="1411059"/>
                  </a:lnTo>
                  <a:lnTo>
                    <a:pt x="9386639" y="1372708"/>
                  </a:lnTo>
                  <a:lnTo>
                    <a:pt x="9396121" y="1325744"/>
                  </a:lnTo>
                  <a:lnTo>
                    <a:pt x="9396121" y="120654"/>
                  </a:lnTo>
                  <a:lnTo>
                    <a:pt x="9386639" y="73689"/>
                  </a:lnTo>
                  <a:lnTo>
                    <a:pt x="9360782" y="35338"/>
                  </a:lnTo>
                  <a:lnTo>
                    <a:pt x="9322431" y="9481"/>
                  </a:lnTo>
                  <a:lnTo>
                    <a:pt x="9275467" y="0"/>
                  </a:lnTo>
                  <a:close/>
                </a:path>
              </a:pathLst>
            </a:custGeom>
            <a:solidFill>
              <a:srgbClr val="3340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0657" y="1370427"/>
              <a:ext cx="9371330" cy="1421130"/>
            </a:xfrm>
            <a:custGeom>
              <a:avLst/>
              <a:gdLst/>
              <a:ahLst/>
              <a:cxnLst/>
              <a:rect l="l" t="t" r="r" b="b"/>
              <a:pathLst>
                <a:path w="9371330" h="1421130">
                  <a:moveTo>
                    <a:pt x="9262814" y="0"/>
                  </a:moveTo>
                  <a:lnTo>
                    <a:pt x="108001" y="0"/>
                  </a:lnTo>
                  <a:lnTo>
                    <a:pt x="65961" y="8487"/>
                  </a:lnTo>
                  <a:lnTo>
                    <a:pt x="31632" y="31632"/>
                  </a:lnTo>
                  <a:lnTo>
                    <a:pt x="8487" y="65962"/>
                  </a:lnTo>
                  <a:lnTo>
                    <a:pt x="0" y="108001"/>
                  </a:lnTo>
                  <a:lnTo>
                    <a:pt x="0" y="1313091"/>
                  </a:lnTo>
                  <a:lnTo>
                    <a:pt x="8487" y="1355130"/>
                  </a:lnTo>
                  <a:lnTo>
                    <a:pt x="31632" y="1389460"/>
                  </a:lnTo>
                  <a:lnTo>
                    <a:pt x="65961" y="1412605"/>
                  </a:lnTo>
                  <a:lnTo>
                    <a:pt x="108001" y="1421092"/>
                  </a:lnTo>
                  <a:lnTo>
                    <a:pt x="9262814" y="1421092"/>
                  </a:lnTo>
                  <a:lnTo>
                    <a:pt x="9304853" y="1412605"/>
                  </a:lnTo>
                  <a:lnTo>
                    <a:pt x="9339183" y="1389460"/>
                  </a:lnTo>
                  <a:lnTo>
                    <a:pt x="9362328" y="1355130"/>
                  </a:lnTo>
                  <a:lnTo>
                    <a:pt x="9370815" y="1313091"/>
                  </a:lnTo>
                  <a:lnTo>
                    <a:pt x="9370815" y="108001"/>
                  </a:lnTo>
                  <a:lnTo>
                    <a:pt x="9362328" y="65962"/>
                  </a:lnTo>
                  <a:lnTo>
                    <a:pt x="9339183" y="31632"/>
                  </a:lnTo>
                  <a:lnTo>
                    <a:pt x="9304853" y="8487"/>
                  </a:lnTo>
                  <a:lnTo>
                    <a:pt x="9262814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955239" y="1538503"/>
          <a:ext cx="4857750" cy="1084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3435"/>
                <a:gridCol w="720725"/>
                <a:gridCol w="727710"/>
                <a:gridCol w="528954"/>
                <a:gridCol w="721360"/>
              </a:tblGrid>
              <a:tr h="23876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spc="-45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Model</a:t>
                      </a:r>
                      <a:r>
                        <a:rPr sz="1000" spc="-50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 </a:t>
                      </a:r>
                      <a:r>
                        <a:rPr sz="1000" spc="-10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Algorithm</a:t>
                      </a:r>
                      <a:endParaRPr sz="10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F8FAFC"/>
                      </a:solidFill>
                      <a:prstDash val="solid"/>
                    </a:lnT>
                    <a:lnB w="9525">
                      <a:solidFill>
                        <a:srgbClr val="F8FAF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spc="-10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Accuracy</a:t>
                      </a:r>
                      <a:endParaRPr sz="10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F8FAFC"/>
                      </a:solidFill>
                      <a:prstDash val="solid"/>
                    </a:lnT>
                    <a:lnB w="9525">
                      <a:solidFill>
                        <a:srgbClr val="F8FAF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spc="-10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Precision</a:t>
                      </a:r>
                      <a:endParaRPr sz="10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F8FAFC"/>
                      </a:solidFill>
                      <a:prstDash val="solid"/>
                    </a:lnT>
                    <a:lnB w="9525">
                      <a:solidFill>
                        <a:srgbClr val="F8FAF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spc="-10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Recall</a:t>
                      </a:r>
                      <a:endParaRPr sz="10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F8FAFC"/>
                      </a:solidFill>
                      <a:prstDash val="solid"/>
                    </a:lnT>
                    <a:lnB w="9525">
                      <a:solidFill>
                        <a:srgbClr val="F8FAF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spc="-95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ROC-</a:t>
                      </a:r>
                      <a:r>
                        <a:rPr sz="1000" spc="-25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AUC</a:t>
                      </a:r>
                      <a:endParaRPr sz="10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F8FAFC"/>
                      </a:solidFill>
                      <a:prstDash val="solid"/>
                    </a:lnT>
                    <a:lnB w="9525">
                      <a:solidFill>
                        <a:srgbClr val="F8FAFC"/>
                      </a:solidFill>
                      <a:prstDash val="solid"/>
                    </a:lnB>
                  </a:tcPr>
                </a:tc>
              </a:tr>
              <a:tr h="184785">
                <a:tc>
                  <a:txBody>
                    <a:bodyPr/>
                    <a:lstStyle/>
                    <a:p>
                      <a:pPr marL="75565">
                        <a:lnSpc>
                          <a:spcPts val="1110"/>
                        </a:lnSpc>
                        <a:spcBef>
                          <a:spcPts val="245"/>
                        </a:spcBef>
                      </a:pPr>
                      <a:r>
                        <a:rPr sz="1000" spc="-90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Stacked</a:t>
                      </a:r>
                      <a:r>
                        <a:rPr sz="1000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 </a:t>
                      </a:r>
                      <a:r>
                        <a:rPr sz="1000" spc="-75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Ensemble</a:t>
                      </a:r>
                      <a:r>
                        <a:rPr sz="1000" spc="5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 </a:t>
                      </a:r>
                      <a:r>
                        <a:rPr sz="1000" spc="-45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Meta-</a:t>
                      </a:r>
                      <a:r>
                        <a:rPr sz="1000" spc="-10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Model</a:t>
                      </a:r>
                      <a:endParaRPr sz="10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31114" marB="0">
                    <a:lnT w="9525">
                      <a:solidFill>
                        <a:srgbClr val="F8FAF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45"/>
                        </a:spcBef>
                      </a:pPr>
                      <a:r>
                        <a:rPr sz="1000" spc="-10" dirty="0">
                          <a:solidFill>
                            <a:srgbClr val="F8FAFC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98.2%</a:t>
                      </a:r>
                      <a:endParaRPr sz="10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31114" marB="0">
                    <a:lnT w="9525">
                      <a:solidFill>
                        <a:srgbClr val="F8FAF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45"/>
                        </a:spcBef>
                      </a:pPr>
                      <a:r>
                        <a:rPr sz="1000" spc="-10" dirty="0">
                          <a:solidFill>
                            <a:srgbClr val="F8FAFC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97.5%</a:t>
                      </a:r>
                      <a:endParaRPr sz="10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31114" marB="0">
                    <a:lnT w="9525">
                      <a:solidFill>
                        <a:srgbClr val="F8FAF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45"/>
                        </a:spcBef>
                      </a:pPr>
                      <a:r>
                        <a:rPr sz="1000" spc="-10" dirty="0">
                          <a:solidFill>
                            <a:srgbClr val="F8FAFC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95.8%</a:t>
                      </a:r>
                      <a:endParaRPr sz="10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31114" marB="0">
                    <a:lnT w="9525">
                      <a:solidFill>
                        <a:srgbClr val="F8FAF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  <a:spcBef>
                          <a:spcPts val="245"/>
                        </a:spcBef>
                      </a:pPr>
                      <a:r>
                        <a:rPr sz="1000" spc="-20" dirty="0">
                          <a:solidFill>
                            <a:srgbClr val="F8FAFC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0.99</a:t>
                      </a:r>
                      <a:endParaRPr sz="10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31114" marB="0">
                    <a:lnT w="9525">
                      <a:solidFill>
                        <a:srgbClr val="F8FAFC"/>
                      </a:solidFill>
                      <a:prstDash val="solid"/>
                    </a:lnT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95"/>
                        </a:lnSpc>
                      </a:pP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XGBoost</a:t>
                      </a:r>
                      <a:r>
                        <a:rPr sz="1000" spc="-2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Classifier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95.5%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94.2%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93.1%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000" spc="-2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0.97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95"/>
                        </a:lnSpc>
                      </a:pP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LightGBM</a:t>
                      </a:r>
                      <a:r>
                        <a:rPr sz="1000" spc="15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Classifier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94.8%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93.6%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92.4%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000" spc="-2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0.96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95"/>
                        </a:lnSpc>
                      </a:pP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Random</a:t>
                      </a:r>
                      <a:r>
                        <a:rPr sz="1000" spc="9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Forest</a:t>
                      </a:r>
                      <a:r>
                        <a:rPr sz="1000" spc="9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Classifier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93.6%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92.0%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90.8%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000" spc="-2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0.95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05740">
                <a:tc>
                  <a:txBody>
                    <a:bodyPr/>
                    <a:lstStyle/>
                    <a:p>
                      <a:pPr marL="75565">
                        <a:lnSpc>
                          <a:spcPts val="1185"/>
                        </a:lnSpc>
                      </a:pP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Single</a:t>
                      </a:r>
                      <a:r>
                        <a:rPr sz="1000" spc="3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Decision</a:t>
                      </a:r>
                      <a:r>
                        <a:rPr sz="1000" spc="3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Tree</a:t>
                      </a:r>
                      <a:r>
                        <a:rPr sz="1000" spc="3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(Baseline)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F8FAF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84.2%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F8FAF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81.5%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F8FAF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79.2%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F8FAF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sz="1000" spc="-2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0.82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F8FAF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648004" y="3052152"/>
            <a:ext cx="9396730" cy="661035"/>
            <a:chOff x="648004" y="3052152"/>
            <a:chExt cx="9396730" cy="661035"/>
          </a:xfrm>
        </p:grpSpPr>
        <p:sp>
          <p:nvSpPr>
            <p:cNvPr id="12" name="object 12"/>
            <p:cNvSpPr/>
            <p:nvPr/>
          </p:nvSpPr>
          <p:spPr>
            <a:xfrm>
              <a:off x="648004" y="3052152"/>
              <a:ext cx="9396730" cy="661035"/>
            </a:xfrm>
            <a:custGeom>
              <a:avLst/>
              <a:gdLst/>
              <a:ahLst/>
              <a:cxnLst/>
              <a:rect l="l" t="t" r="r" b="b"/>
              <a:pathLst>
                <a:path w="9396730" h="661035">
                  <a:moveTo>
                    <a:pt x="9275467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540330"/>
                  </a:lnTo>
                  <a:lnTo>
                    <a:pt x="9481" y="587294"/>
                  </a:lnTo>
                  <a:lnTo>
                    <a:pt x="35338" y="625646"/>
                  </a:lnTo>
                  <a:lnTo>
                    <a:pt x="73689" y="651502"/>
                  </a:lnTo>
                  <a:lnTo>
                    <a:pt x="120653" y="660984"/>
                  </a:lnTo>
                  <a:lnTo>
                    <a:pt x="9275467" y="660984"/>
                  </a:lnTo>
                  <a:lnTo>
                    <a:pt x="9322431" y="651502"/>
                  </a:lnTo>
                  <a:lnTo>
                    <a:pt x="9360782" y="625646"/>
                  </a:lnTo>
                  <a:lnTo>
                    <a:pt x="9386639" y="587294"/>
                  </a:lnTo>
                  <a:lnTo>
                    <a:pt x="9396121" y="540330"/>
                  </a:lnTo>
                  <a:lnTo>
                    <a:pt x="9396121" y="120653"/>
                  </a:lnTo>
                  <a:lnTo>
                    <a:pt x="9386639" y="73689"/>
                  </a:lnTo>
                  <a:lnTo>
                    <a:pt x="9360782" y="35338"/>
                  </a:lnTo>
                  <a:lnTo>
                    <a:pt x="9322431" y="9481"/>
                  </a:lnTo>
                  <a:lnTo>
                    <a:pt x="9275467" y="0"/>
                  </a:lnTo>
                  <a:close/>
                </a:path>
              </a:pathLst>
            </a:custGeom>
            <a:solidFill>
              <a:srgbClr val="368B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60657" y="3064805"/>
              <a:ext cx="9371330" cy="636270"/>
            </a:xfrm>
            <a:custGeom>
              <a:avLst/>
              <a:gdLst/>
              <a:ahLst/>
              <a:cxnLst/>
              <a:rect l="l" t="t" r="r" b="b"/>
              <a:pathLst>
                <a:path w="9371330" h="636270">
                  <a:moveTo>
                    <a:pt x="9262814" y="0"/>
                  </a:moveTo>
                  <a:lnTo>
                    <a:pt x="108001" y="0"/>
                  </a:lnTo>
                  <a:lnTo>
                    <a:pt x="65961" y="8487"/>
                  </a:lnTo>
                  <a:lnTo>
                    <a:pt x="31632" y="31632"/>
                  </a:lnTo>
                  <a:lnTo>
                    <a:pt x="8487" y="65961"/>
                  </a:lnTo>
                  <a:lnTo>
                    <a:pt x="0" y="108001"/>
                  </a:lnTo>
                  <a:lnTo>
                    <a:pt x="0" y="527677"/>
                  </a:lnTo>
                  <a:lnTo>
                    <a:pt x="8487" y="569717"/>
                  </a:lnTo>
                  <a:lnTo>
                    <a:pt x="31632" y="604046"/>
                  </a:lnTo>
                  <a:lnTo>
                    <a:pt x="65961" y="627191"/>
                  </a:lnTo>
                  <a:lnTo>
                    <a:pt x="108001" y="635678"/>
                  </a:lnTo>
                  <a:lnTo>
                    <a:pt x="9262814" y="635678"/>
                  </a:lnTo>
                  <a:lnTo>
                    <a:pt x="9304853" y="627191"/>
                  </a:lnTo>
                  <a:lnTo>
                    <a:pt x="9339183" y="604046"/>
                  </a:lnTo>
                  <a:lnTo>
                    <a:pt x="9362328" y="569717"/>
                  </a:lnTo>
                  <a:lnTo>
                    <a:pt x="9370815" y="527677"/>
                  </a:lnTo>
                  <a:lnTo>
                    <a:pt x="9370815" y="108001"/>
                  </a:lnTo>
                  <a:lnTo>
                    <a:pt x="9362328" y="65961"/>
                  </a:lnTo>
                  <a:lnTo>
                    <a:pt x="9339183" y="31632"/>
                  </a:lnTo>
                  <a:lnTo>
                    <a:pt x="9304853" y="8487"/>
                  </a:lnTo>
                  <a:lnTo>
                    <a:pt x="9262814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35786" y="3181386"/>
            <a:ext cx="902081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spc="-13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Key</a:t>
            </a:r>
            <a:r>
              <a:rPr sz="1100" spc="10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3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Insight:</a:t>
            </a:r>
            <a:r>
              <a:rPr sz="1100" spc="33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Stacking</a:t>
            </a:r>
            <a:r>
              <a:rPr sz="1100" spc="1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heterogeneous</a:t>
            </a:r>
            <a:r>
              <a:rPr sz="1100" spc="1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models</a:t>
            </a:r>
            <a:r>
              <a:rPr sz="1100" spc="1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yields</a:t>
            </a:r>
            <a:r>
              <a:rPr sz="1100" spc="1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a</a:t>
            </a:r>
            <a:r>
              <a:rPr sz="1100" spc="1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+2.7%</a:t>
            </a:r>
            <a:r>
              <a:rPr sz="1100" spc="1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accuracy</a:t>
            </a:r>
            <a:r>
              <a:rPr sz="1100" spc="1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gain</a:t>
            </a:r>
            <a:r>
              <a:rPr sz="1100" spc="1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over</a:t>
            </a:r>
            <a:r>
              <a:rPr sz="1100" spc="1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50" dirty="0">
                <a:solidFill>
                  <a:srgbClr val="93A3B8"/>
                </a:solidFill>
                <a:latin typeface="Arial MT"/>
                <a:cs typeface="Arial MT"/>
              </a:rPr>
              <a:t>the</a:t>
            </a:r>
            <a:r>
              <a:rPr sz="1100" spc="1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single</a:t>
            </a:r>
            <a:r>
              <a:rPr sz="1100" spc="1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best</a:t>
            </a:r>
            <a:r>
              <a:rPr sz="1100" spc="1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base</a:t>
            </a:r>
            <a:r>
              <a:rPr sz="1100" spc="1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estimator</a:t>
            </a:r>
            <a:r>
              <a:rPr sz="1100" spc="1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(XGBoost)</a:t>
            </a:r>
            <a:r>
              <a:rPr sz="1100" spc="1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and</a:t>
            </a:r>
            <a:r>
              <a:rPr sz="1100" spc="1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a</a:t>
            </a:r>
            <a:r>
              <a:rPr sz="1100" spc="1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3A3B8"/>
                </a:solidFill>
                <a:latin typeface="Arial MT"/>
                <a:cs typeface="Arial MT"/>
              </a:rPr>
              <a:t>+14.0% </a:t>
            </a:r>
            <a:r>
              <a:rPr sz="1100" spc="20" dirty="0">
                <a:solidFill>
                  <a:srgbClr val="93A3B8"/>
                </a:solidFill>
                <a:latin typeface="Arial MT"/>
                <a:cs typeface="Arial MT"/>
              </a:rPr>
              <a:t>enhancement</a:t>
            </a:r>
            <a:r>
              <a:rPr sz="1100" spc="4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20" dirty="0">
                <a:solidFill>
                  <a:srgbClr val="93A3B8"/>
                </a:solidFill>
                <a:latin typeface="Arial MT"/>
                <a:cs typeface="Arial MT"/>
              </a:rPr>
              <a:t>over</a:t>
            </a:r>
            <a:r>
              <a:rPr sz="1100" spc="5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20" dirty="0">
                <a:solidFill>
                  <a:srgbClr val="93A3B8"/>
                </a:solidFill>
                <a:latin typeface="Arial MT"/>
                <a:cs typeface="Arial MT"/>
              </a:rPr>
              <a:t>standard</a:t>
            </a:r>
            <a:r>
              <a:rPr sz="1100" spc="4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20" dirty="0">
                <a:solidFill>
                  <a:srgbClr val="93A3B8"/>
                </a:solidFill>
                <a:latin typeface="Arial MT"/>
                <a:cs typeface="Arial MT"/>
              </a:rPr>
              <a:t>single</a:t>
            </a:r>
            <a:r>
              <a:rPr sz="1100" spc="5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10" dirty="0">
                <a:solidFill>
                  <a:srgbClr val="93A3B8"/>
                </a:solidFill>
                <a:latin typeface="Arial MT"/>
                <a:cs typeface="Arial MT"/>
              </a:rPr>
              <a:t>Decision</a:t>
            </a:r>
            <a:r>
              <a:rPr sz="1100" spc="4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3A3B8"/>
                </a:solidFill>
                <a:latin typeface="Arial MT"/>
                <a:cs typeface="Arial MT"/>
              </a:rPr>
              <a:t>Trees.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48004" y="5380215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6324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Loan</a:t>
            </a:r>
            <a:r>
              <a:rPr spc="55" dirty="0"/>
              <a:t> </a:t>
            </a:r>
            <a:r>
              <a:rPr dirty="0"/>
              <a:t>Approval</a:t>
            </a:r>
            <a:r>
              <a:rPr spc="55" dirty="0"/>
              <a:t> </a:t>
            </a:r>
            <a:r>
              <a:rPr dirty="0"/>
              <a:t>Prediction</a:t>
            </a:r>
            <a:r>
              <a:rPr spc="55" dirty="0"/>
              <a:t> </a:t>
            </a:r>
            <a:r>
              <a:rPr dirty="0"/>
              <a:t>Using</a:t>
            </a:r>
            <a:r>
              <a:rPr spc="55" dirty="0"/>
              <a:t> </a:t>
            </a:r>
            <a:r>
              <a:rPr dirty="0"/>
              <a:t>Ensemble</a:t>
            </a:r>
            <a:r>
              <a:rPr spc="60" dirty="0"/>
              <a:t> </a:t>
            </a:r>
            <a:r>
              <a:rPr spc="-25" dirty="0"/>
              <a:t>ML</a:t>
            </a:r>
            <a:endParaRPr spc="-25"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Academic</a:t>
            </a:r>
            <a:r>
              <a:rPr spc="35" dirty="0"/>
              <a:t> </a:t>
            </a:r>
            <a:r>
              <a:rPr dirty="0"/>
              <a:t>Capstone</a:t>
            </a:r>
            <a:r>
              <a:rPr spc="35" dirty="0"/>
              <a:t> </a:t>
            </a:r>
            <a:r>
              <a:rPr spc="-10" dirty="0"/>
              <a:t>Presentation</a:t>
            </a:r>
            <a:endParaRPr spc="-1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Slide</a:t>
            </a:r>
            <a:r>
              <a:rPr spc="-30" dirty="0"/>
              <a:t> 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304" y="388560"/>
            <a:ext cx="1914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KL</a:t>
            </a:r>
            <a:r>
              <a:rPr sz="1000" spc="-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DEEMED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TO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BE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UNIVERSITY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83753" y="388560"/>
            <a:ext cx="36112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2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|</a:t>
            </a:r>
            <a:r>
              <a:rPr sz="1000" spc="20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DEPARTMENT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OF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COMPUTER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SCIENCE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ENGINEERING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51875" y="388560"/>
            <a:ext cx="1304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5" dirty="0">
                <a:solidFill>
                  <a:srgbClr val="93A3B8"/>
                </a:solidFill>
                <a:latin typeface="Arial MT"/>
                <a:cs typeface="Arial MT"/>
              </a:rPr>
              <a:t>B.TECH</a:t>
            </a:r>
            <a:r>
              <a:rPr sz="1000" spc="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14" dirty="0">
                <a:solidFill>
                  <a:srgbClr val="93A3B8"/>
                </a:solidFill>
                <a:latin typeface="Arial MT"/>
                <a:cs typeface="Arial MT"/>
              </a:rPr>
              <a:t>CSE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(2026–</a:t>
            </a:r>
            <a:r>
              <a:rPr sz="1000" spc="-25" dirty="0">
                <a:solidFill>
                  <a:srgbClr val="93A3B8"/>
                </a:solidFill>
                <a:latin typeface="Arial MT"/>
                <a:cs typeface="Arial MT"/>
              </a:rPr>
              <a:t>27)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8004" y="74540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10121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5304" y="828862"/>
            <a:ext cx="30613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Software</a:t>
            </a:r>
            <a:r>
              <a:rPr sz="1400" spc="-7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1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400" spc="-6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9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System</a:t>
            </a:r>
            <a:r>
              <a:rPr sz="1400" spc="-7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4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Requirements</a:t>
            </a:r>
            <a:endParaRPr sz="14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8004" y="1357774"/>
            <a:ext cx="9396730" cy="1446530"/>
            <a:chOff x="648004" y="1357774"/>
            <a:chExt cx="9396730" cy="1446530"/>
          </a:xfrm>
        </p:grpSpPr>
        <p:sp>
          <p:nvSpPr>
            <p:cNvPr id="8" name="object 8"/>
            <p:cNvSpPr/>
            <p:nvPr/>
          </p:nvSpPr>
          <p:spPr>
            <a:xfrm>
              <a:off x="648004" y="1357774"/>
              <a:ext cx="9396730" cy="1446530"/>
            </a:xfrm>
            <a:custGeom>
              <a:avLst/>
              <a:gdLst/>
              <a:ahLst/>
              <a:cxnLst/>
              <a:rect l="l" t="t" r="r" b="b"/>
              <a:pathLst>
                <a:path w="9396730" h="1446530">
                  <a:moveTo>
                    <a:pt x="9275467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4"/>
                  </a:lnTo>
                  <a:lnTo>
                    <a:pt x="0" y="1325744"/>
                  </a:lnTo>
                  <a:lnTo>
                    <a:pt x="9481" y="1372708"/>
                  </a:lnTo>
                  <a:lnTo>
                    <a:pt x="35338" y="1411059"/>
                  </a:lnTo>
                  <a:lnTo>
                    <a:pt x="73689" y="1436916"/>
                  </a:lnTo>
                  <a:lnTo>
                    <a:pt x="120653" y="1446398"/>
                  </a:lnTo>
                  <a:lnTo>
                    <a:pt x="9275467" y="1446398"/>
                  </a:lnTo>
                  <a:lnTo>
                    <a:pt x="9322431" y="1436916"/>
                  </a:lnTo>
                  <a:lnTo>
                    <a:pt x="9360782" y="1411059"/>
                  </a:lnTo>
                  <a:lnTo>
                    <a:pt x="9386639" y="1372708"/>
                  </a:lnTo>
                  <a:lnTo>
                    <a:pt x="9396121" y="1325744"/>
                  </a:lnTo>
                  <a:lnTo>
                    <a:pt x="9396121" y="120654"/>
                  </a:lnTo>
                  <a:lnTo>
                    <a:pt x="9386639" y="73689"/>
                  </a:lnTo>
                  <a:lnTo>
                    <a:pt x="9360782" y="35338"/>
                  </a:lnTo>
                  <a:lnTo>
                    <a:pt x="9322431" y="9481"/>
                  </a:lnTo>
                  <a:lnTo>
                    <a:pt x="9275467" y="0"/>
                  </a:lnTo>
                  <a:close/>
                </a:path>
              </a:pathLst>
            </a:custGeom>
            <a:solidFill>
              <a:srgbClr val="3340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0657" y="1370427"/>
              <a:ext cx="9371330" cy="1421130"/>
            </a:xfrm>
            <a:custGeom>
              <a:avLst/>
              <a:gdLst/>
              <a:ahLst/>
              <a:cxnLst/>
              <a:rect l="l" t="t" r="r" b="b"/>
              <a:pathLst>
                <a:path w="9371330" h="1421130">
                  <a:moveTo>
                    <a:pt x="9262814" y="0"/>
                  </a:moveTo>
                  <a:lnTo>
                    <a:pt x="108001" y="0"/>
                  </a:lnTo>
                  <a:lnTo>
                    <a:pt x="65961" y="8487"/>
                  </a:lnTo>
                  <a:lnTo>
                    <a:pt x="31632" y="31632"/>
                  </a:lnTo>
                  <a:lnTo>
                    <a:pt x="8487" y="65962"/>
                  </a:lnTo>
                  <a:lnTo>
                    <a:pt x="0" y="108001"/>
                  </a:lnTo>
                  <a:lnTo>
                    <a:pt x="0" y="1313091"/>
                  </a:lnTo>
                  <a:lnTo>
                    <a:pt x="8487" y="1355130"/>
                  </a:lnTo>
                  <a:lnTo>
                    <a:pt x="31632" y="1389460"/>
                  </a:lnTo>
                  <a:lnTo>
                    <a:pt x="65961" y="1412605"/>
                  </a:lnTo>
                  <a:lnTo>
                    <a:pt x="108001" y="1421092"/>
                  </a:lnTo>
                  <a:lnTo>
                    <a:pt x="9262814" y="1421092"/>
                  </a:lnTo>
                  <a:lnTo>
                    <a:pt x="9304853" y="1412605"/>
                  </a:lnTo>
                  <a:lnTo>
                    <a:pt x="9339183" y="1389460"/>
                  </a:lnTo>
                  <a:lnTo>
                    <a:pt x="9362328" y="1355130"/>
                  </a:lnTo>
                  <a:lnTo>
                    <a:pt x="9370815" y="1313091"/>
                  </a:lnTo>
                  <a:lnTo>
                    <a:pt x="9370815" y="108001"/>
                  </a:lnTo>
                  <a:lnTo>
                    <a:pt x="9362328" y="65962"/>
                  </a:lnTo>
                  <a:lnTo>
                    <a:pt x="9339183" y="31632"/>
                  </a:lnTo>
                  <a:lnTo>
                    <a:pt x="9304853" y="8487"/>
                  </a:lnTo>
                  <a:lnTo>
                    <a:pt x="9262814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848487" y="1538503"/>
          <a:ext cx="9071610" cy="1084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8600"/>
                <a:gridCol w="2328545"/>
                <a:gridCol w="5168900"/>
              </a:tblGrid>
              <a:tr h="23876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spc="-10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Component</a:t>
                      </a:r>
                      <a:endParaRPr sz="10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F8FAFC"/>
                      </a:solidFill>
                      <a:prstDash val="solid"/>
                    </a:lnT>
                    <a:lnB w="9525">
                      <a:solidFill>
                        <a:srgbClr val="F8FAF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spc="-75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Technology</a:t>
                      </a:r>
                      <a:r>
                        <a:rPr sz="1000" spc="-35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 </a:t>
                      </a:r>
                      <a:r>
                        <a:rPr sz="1000" spc="130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/</a:t>
                      </a:r>
                      <a:r>
                        <a:rPr sz="1000" spc="-30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 </a:t>
                      </a:r>
                      <a:r>
                        <a:rPr sz="1000" spc="-20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Tool</a:t>
                      </a:r>
                      <a:endParaRPr sz="10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F8FAFC"/>
                      </a:solidFill>
                      <a:prstDash val="solid"/>
                    </a:lnT>
                    <a:lnB w="9525">
                      <a:solidFill>
                        <a:srgbClr val="F8FAF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spc="-65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Purpose</a:t>
                      </a:r>
                      <a:r>
                        <a:rPr sz="1000" spc="-45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 </a:t>
                      </a:r>
                      <a:r>
                        <a:rPr sz="1000" spc="-150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&amp;</a:t>
                      </a:r>
                      <a:r>
                        <a:rPr sz="1000" spc="-45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 </a:t>
                      </a:r>
                      <a:r>
                        <a:rPr sz="1000" spc="-10" dirty="0">
                          <a:solidFill>
                            <a:srgbClr val="38BDF8"/>
                          </a:solidFill>
                          <a:latin typeface="Arial Black" panose="020B0A04020102020204"/>
                          <a:cs typeface="Arial Black" panose="020B0A04020102020204"/>
                        </a:rPr>
                        <a:t>Functionality</a:t>
                      </a:r>
                      <a:endParaRPr sz="1000">
                        <a:latin typeface="Arial Black" panose="020B0A04020102020204"/>
                        <a:cs typeface="Arial Black" panose="020B0A04020102020204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F8FAFC"/>
                      </a:solidFill>
                      <a:prstDash val="solid"/>
                    </a:lnT>
                    <a:lnB w="9525">
                      <a:solidFill>
                        <a:srgbClr val="F8FAFC"/>
                      </a:solidFill>
                      <a:prstDash val="solid"/>
                    </a:lnB>
                  </a:tcPr>
                </a:tc>
              </a:tr>
              <a:tr h="184785">
                <a:tc>
                  <a:txBody>
                    <a:bodyPr/>
                    <a:lstStyle/>
                    <a:p>
                      <a:pPr marL="75565">
                        <a:lnSpc>
                          <a:spcPts val="1110"/>
                        </a:lnSpc>
                        <a:spcBef>
                          <a:spcPts val="245"/>
                        </a:spcBef>
                      </a:pPr>
                      <a:r>
                        <a:rPr sz="1000" spc="2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Development</a:t>
                      </a:r>
                      <a:r>
                        <a:rPr sz="1000" spc="16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Platform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1114" marB="0">
                    <a:lnT w="9525">
                      <a:solidFill>
                        <a:srgbClr val="F8FAF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10"/>
                        </a:lnSpc>
                        <a:spcBef>
                          <a:spcPts val="245"/>
                        </a:spcBef>
                      </a:pP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Python</a:t>
                      </a:r>
                      <a:r>
                        <a:rPr sz="1000" spc="4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3.10+</a:t>
                      </a:r>
                      <a:r>
                        <a:rPr sz="1000" spc="5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9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sz="1000" spc="5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Jupyter</a:t>
                      </a:r>
                      <a:r>
                        <a:rPr sz="1000" spc="5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Notebook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1114" marB="0">
                    <a:lnT w="9525">
                      <a:solidFill>
                        <a:srgbClr val="F8FAF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10"/>
                        </a:lnSpc>
                        <a:spcBef>
                          <a:spcPts val="245"/>
                        </a:spcBef>
                      </a:pPr>
                      <a:r>
                        <a:rPr sz="1000" spc="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Core</a:t>
                      </a:r>
                      <a:r>
                        <a:rPr sz="1000" spc="6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5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programming</a:t>
                      </a:r>
                      <a:r>
                        <a:rPr sz="1000" spc="6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2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language</a:t>
                      </a:r>
                      <a:r>
                        <a:rPr sz="1000" spc="7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2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00" spc="6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2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interactive</a:t>
                      </a:r>
                      <a:r>
                        <a:rPr sz="1000" spc="7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2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experimental</a:t>
                      </a:r>
                      <a:r>
                        <a:rPr sz="1000" spc="6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environment.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31114" marB="0">
                    <a:lnT w="9525">
                      <a:solidFill>
                        <a:srgbClr val="F8FAFC"/>
                      </a:solidFill>
                      <a:prstDash val="solid"/>
                    </a:lnT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95"/>
                        </a:lnSpc>
                      </a:pP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ML</a:t>
                      </a:r>
                      <a:r>
                        <a:rPr sz="1000" spc="8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Pipeline</a:t>
                      </a:r>
                      <a:r>
                        <a:rPr sz="1000" spc="8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Libraries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95"/>
                        </a:lnSpc>
                      </a:pP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Scikit-Learn,</a:t>
                      </a:r>
                      <a:r>
                        <a:rPr sz="1000" spc="2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XGBoost,</a:t>
                      </a:r>
                      <a:r>
                        <a:rPr sz="1000" spc="2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LightGBM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95"/>
                        </a:lnSpc>
                      </a:pPr>
                      <a:r>
                        <a:rPr sz="1000" spc="5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Algorithm</a:t>
                      </a:r>
                      <a:r>
                        <a:rPr sz="1000" spc="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3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execution,</a:t>
                      </a:r>
                      <a:r>
                        <a:rPr sz="1000" spc="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3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hyperparameter</a:t>
                      </a:r>
                      <a:r>
                        <a:rPr sz="1000" spc="1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5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tuning,</a:t>
                      </a:r>
                      <a:r>
                        <a:rPr sz="1000" spc="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2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cross-</a:t>
                      </a:r>
                      <a:r>
                        <a:rPr sz="1000" spc="3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validation</a:t>
                      </a:r>
                      <a:r>
                        <a:rPr sz="1000" spc="1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routines.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95"/>
                        </a:lnSpc>
                      </a:pP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sz="1000" spc="6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Wrangling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95"/>
                        </a:lnSpc>
                      </a:pP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Pandas,</a:t>
                      </a:r>
                      <a:r>
                        <a:rPr sz="1000" spc="2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NumPy,</a:t>
                      </a:r>
                      <a:r>
                        <a:rPr sz="1000" spc="204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Imbalanced-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Learn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95"/>
                        </a:lnSpc>
                      </a:pP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Matrix</a:t>
                      </a:r>
                      <a:r>
                        <a:rPr sz="1000" spc="15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4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manipulation,</a:t>
                      </a:r>
                      <a:r>
                        <a:rPr sz="1000" spc="16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feature</a:t>
                      </a:r>
                      <a:r>
                        <a:rPr sz="1000" spc="15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4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transformation,</a:t>
                      </a:r>
                      <a:r>
                        <a:rPr sz="1000" spc="16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6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SMOTE</a:t>
                      </a:r>
                      <a:r>
                        <a:rPr sz="1000" spc="15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oversampling</a:t>
                      </a:r>
                      <a:r>
                        <a:rPr sz="1000" spc="16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implementation.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151765">
                <a:tc>
                  <a:txBody>
                    <a:bodyPr/>
                    <a:lstStyle/>
                    <a:p>
                      <a:pPr marL="75565">
                        <a:lnSpc>
                          <a:spcPts val="1095"/>
                        </a:lnSpc>
                      </a:pP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sz="1000" spc="6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Visualization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95"/>
                        </a:lnSpc>
                      </a:pPr>
                      <a:r>
                        <a:rPr sz="1000" spc="3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Matplotlib,</a:t>
                      </a:r>
                      <a:r>
                        <a:rPr sz="1000" spc="14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Seaborn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95"/>
                        </a:lnSpc>
                      </a:pP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Exploratory</a:t>
                      </a:r>
                      <a:r>
                        <a:rPr sz="1000" spc="12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sz="1000" spc="12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Analysis</a:t>
                      </a:r>
                      <a:r>
                        <a:rPr sz="1000" spc="12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5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(EDA),</a:t>
                      </a:r>
                      <a:r>
                        <a:rPr sz="1000" spc="12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confusion</a:t>
                      </a:r>
                      <a:r>
                        <a:rPr sz="1000" spc="12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5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matrix</a:t>
                      </a:r>
                      <a:r>
                        <a:rPr sz="1000" spc="12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heatmaps,</a:t>
                      </a:r>
                      <a:r>
                        <a:rPr sz="1000" spc="12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7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ROC</a:t>
                      </a:r>
                      <a:r>
                        <a:rPr sz="1000" spc="12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curves.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05740">
                <a:tc>
                  <a:txBody>
                    <a:bodyPr/>
                    <a:lstStyle/>
                    <a:p>
                      <a:pPr marL="75565">
                        <a:lnSpc>
                          <a:spcPts val="1185"/>
                        </a:lnSpc>
                      </a:pP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System</a:t>
                      </a:r>
                      <a:r>
                        <a:rPr sz="1000" spc="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Hardware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F8FAF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85"/>
                        </a:lnSpc>
                      </a:pP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Intel</a:t>
                      </a:r>
                      <a:r>
                        <a:rPr sz="1000" spc="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Core</a:t>
                      </a:r>
                      <a:r>
                        <a:rPr sz="1000" spc="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i3</a:t>
                      </a:r>
                      <a:r>
                        <a:rPr sz="1000" spc="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9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sz="1000" spc="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4GB+</a:t>
                      </a:r>
                      <a:r>
                        <a:rPr sz="1000" spc="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RAM</a:t>
                      </a:r>
                      <a:r>
                        <a:rPr sz="1000" spc="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9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sz="1000" spc="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20GB</a:t>
                      </a:r>
                      <a:r>
                        <a:rPr sz="1000" spc="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Disk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F8FAF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85"/>
                        </a:lnSpc>
                      </a:pPr>
                      <a:r>
                        <a:rPr sz="1000" spc="2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Baseline</a:t>
                      </a:r>
                      <a:r>
                        <a:rPr sz="1000" spc="6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2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hardware</a:t>
                      </a:r>
                      <a:r>
                        <a:rPr sz="1000" spc="6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2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capable</a:t>
                      </a:r>
                      <a:r>
                        <a:rPr sz="1000" spc="6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55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000" spc="6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2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model</a:t>
                      </a:r>
                      <a:r>
                        <a:rPr sz="1000" spc="6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2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training</a:t>
                      </a:r>
                      <a:r>
                        <a:rPr sz="1000" spc="6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2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000" spc="6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solidFill>
                            <a:srgbClr val="F8FAFC"/>
                          </a:solidFill>
                          <a:latin typeface="Arial MT"/>
                          <a:cs typeface="Arial MT"/>
                        </a:rPr>
                        <a:t>inference.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12700">
                      <a:solidFill>
                        <a:srgbClr val="F8FAF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648004" y="5380215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6324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Loan</a:t>
            </a:r>
            <a:r>
              <a:rPr spc="55" dirty="0"/>
              <a:t> </a:t>
            </a:r>
            <a:r>
              <a:rPr dirty="0"/>
              <a:t>Approval</a:t>
            </a:r>
            <a:r>
              <a:rPr spc="55" dirty="0"/>
              <a:t> </a:t>
            </a:r>
            <a:r>
              <a:rPr dirty="0"/>
              <a:t>Prediction</a:t>
            </a:r>
            <a:r>
              <a:rPr spc="55" dirty="0"/>
              <a:t> </a:t>
            </a:r>
            <a:r>
              <a:rPr dirty="0"/>
              <a:t>Using</a:t>
            </a:r>
            <a:r>
              <a:rPr spc="55" dirty="0"/>
              <a:t> </a:t>
            </a:r>
            <a:r>
              <a:rPr dirty="0"/>
              <a:t>Ensemble</a:t>
            </a:r>
            <a:r>
              <a:rPr spc="60" dirty="0"/>
              <a:t> </a:t>
            </a:r>
            <a:r>
              <a:rPr spc="-25" dirty="0"/>
              <a:t>ML</a:t>
            </a:r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Academic</a:t>
            </a:r>
            <a:r>
              <a:rPr spc="35" dirty="0"/>
              <a:t> </a:t>
            </a:r>
            <a:r>
              <a:rPr dirty="0"/>
              <a:t>Capstone</a:t>
            </a:r>
            <a:r>
              <a:rPr spc="35" dirty="0"/>
              <a:t> </a:t>
            </a:r>
            <a:r>
              <a:rPr spc="-10" dirty="0"/>
              <a:t>Presentation</a:t>
            </a:r>
            <a:endParaRPr spc="-1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Slide</a:t>
            </a:r>
            <a:r>
              <a:rPr spc="-30" dirty="0"/>
              <a:t> 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304" y="388560"/>
            <a:ext cx="1914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KL</a:t>
            </a:r>
            <a:r>
              <a:rPr sz="1000" spc="-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DEEMED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TO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BE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UNIVERSITY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83753" y="388560"/>
            <a:ext cx="36112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2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|</a:t>
            </a:r>
            <a:r>
              <a:rPr sz="1000" spc="20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DEPARTMENT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OF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COMPUTER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SCIENCE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ENGINEERING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51875" y="388560"/>
            <a:ext cx="1304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5" dirty="0">
                <a:solidFill>
                  <a:srgbClr val="93A3B8"/>
                </a:solidFill>
                <a:latin typeface="Arial MT"/>
                <a:cs typeface="Arial MT"/>
              </a:rPr>
              <a:t>B.TECH</a:t>
            </a:r>
            <a:r>
              <a:rPr sz="1000" spc="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14" dirty="0">
                <a:solidFill>
                  <a:srgbClr val="93A3B8"/>
                </a:solidFill>
                <a:latin typeface="Arial MT"/>
                <a:cs typeface="Arial MT"/>
              </a:rPr>
              <a:t>CSE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(2026–</a:t>
            </a:r>
            <a:r>
              <a:rPr sz="1000" spc="-25" dirty="0">
                <a:solidFill>
                  <a:srgbClr val="93A3B8"/>
                </a:solidFill>
                <a:latin typeface="Arial MT"/>
                <a:cs typeface="Arial MT"/>
              </a:rPr>
              <a:t>27)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8004" y="74540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10121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5304" y="828862"/>
            <a:ext cx="34956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7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4-</a:t>
            </a:r>
            <a:r>
              <a:rPr sz="1400" spc="-9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Stage</a:t>
            </a:r>
            <a:r>
              <a:rPr sz="1400" spc="-5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8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Project</a:t>
            </a:r>
            <a:r>
              <a:rPr sz="1400" spc="-5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Development </a:t>
            </a:r>
            <a:r>
              <a:rPr sz="1400" spc="-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Lifecycle</a:t>
            </a:r>
            <a:endParaRPr sz="1400">
              <a:latin typeface="Arial Black" panose="020B0A04020102020204"/>
              <a:cs typeface="Arial Black" panose="020B0A040201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8004" y="1284393"/>
            <a:ext cx="2161540" cy="1043305"/>
            <a:chOff x="648004" y="1284393"/>
            <a:chExt cx="2161540" cy="1043305"/>
          </a:xfrm>
        </p:grpSpPr>
        <p:sp>
          <p:nvSpPr>
            <p:cNvPr id="8" name="object 8"/>
            <p:cNvSpPr/>
            <p:nvPr/>
          </p:nvSpPr>
          <p:spPr>
            <a:xfrm>
              <a:off x="648004" y="1284393"/>
              <a:ext cx="2161540" cy="1043305"/>
            </a:xfrm>
            <a:custGeom>
              <a:avLst/>
              <a:gdLst/>
              <a:ahLst/>
              <a:cxnLst/>
              <a:rect l="l" t="t" r="r" b="b"/>
              <a:pathLst>
                <a:path w="2161540" h="1043305">
                  <a:moveTo>
                    <a:pt x="2040413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922164"/>
                  </a:lnTo>
                  <a:lnTo>
                    <a:pt x="9481" y="969128"/>
                  </a:lnTo>
                  <a:lnTo>
                    <a:pt x="35338" y="1007479"/>
                  </a:lnTo>
                  <a:lnTo>
                    <a:pt x="73689" y="1033336"/>
                  </a:lnTo>
                  <a:lnTo>
                    <a:pt x="120653" y="1042818"/>
                  </a:lnTo>
                  <a:lnTo>
                    <a:pt x="2040413" y="1042818"/>
                  </a:lnTo>
                  <a:lnTo>
                    <a:pt x="2087377" y="1033336"/>
                  </a:lnTo>
                  <a:lnTo>
                    <a:pt x="2125729" y="1007479"/>
                  </a:lnTo>
                  <a:lnTo>
                    <a:pt x="2151586" y="969128"/>
                  </a:lnTo>
                  <a:lnTo>
                    <a:pt x="2161067" y="922164"/>
                  </a:lnTo>
                  <a:lnTo>
                    <a:pt x="2161067" y="120653"/>
                  </a:lnTo>
                  <a:lnTo>
                    <a:pt x="2151586" y="73689"/>
                  </a:lnTo>
                  <a:lnTo>
                    <a:pt x="2125729" y="35338"/>
                  </a:lnTo>
                  <a:lnTo>
                    <a:pt x="2087377" y="9481"/>
                  </a:lnTo>
                  <a:lnTo>
                    <a:pt x="2040413" y="0"/>
                  </a:lnTo>
                  <a:close/>
                </a:path>
              </a:pathLst>
            </a:custGeom>
            <a:solidFill>
              <a:srgbClr val="368B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60657" y="1488380"/>
              <a:ext cx="2136140" cy="826769"/>
            </a:xfrm>
            <a:custGeom>
              <a:avLst/>
              <a:gdLst/>
              <a:ahLst/>
              <a:cxnLst/>
              <a:rect l="l" t="t" r="r" b="b"/>
              <a:pathLst>
                <a:path w="2136140" h="826769">
                  <a:moveTo>
                    <a:pt x="2135762" y="0"/>
                  </a:moveTo>
                  <a:lnTo>
                    <a:pt x="0" y="0"/>
                  </a:lnTo>
                  <a:lnTo>
                    <a:pt x="0" y="718177"/>
                  </a:lnTo>
                  <a:lnTo>
                    <a:pt x="8487" y="760216"/>
                  </a:lnTo>
                  <a:lnTo>
                    <a:pt x="31632" y="794545"/>
                  </a:lnTo>
                  <a:lnTo>
                    <a:pt x="65961" y="817691"/>
                  </a:lnTo>
                  <a:lnTo>
                    <a:pt x="108001" y="826178"/>
                  </a:lnTo>
                  <a:lnTo>
                    <a:pt x="2027760" y="826178"/>
                  </a:lnTo>
                  <a:lnTo>
                    <a:pt x="2069800" y="817691"/>
                  </a:lnTo>
                  <a:lnTo>
                    <a:pt x="2104129" y="794545"/>
                  </a:lnTo>
                  <a:lnTo>
                    <a:pt x="2127274" y="760216"/>
                  </a:lnTo>
                  <a:lnTo>
                    <a:pt x="2135762" y="718177"/>
                  </a:lnTo>
                  <a:lnTo>
                    <a:pt x="2135762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35786" y="1287105"/>
            <a:ext cx="1785620" cy="8921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9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Phase</a:t>
            </a:r>
            <a:r>
              <a:rPr sz="11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1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100" spc="-6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Data</a:t>
            </a:r>
            <a:r>
              <a:rPr sz="1100" spc="-7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Ingestion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 marR="5080">
              <a:lnSpc>
                <a:spcPct val="188000"/>
              </a:lnSpc>
              <a:spcBef>
                <a:spcPts val="300"/>
              </a:spcBef>
            </a:pPr>
            <a:r>
              <a:rPr sz="600" dirty="0">
                <a:solidFill>
                  <a:srgbClr val="93A3B8"/>
                </a:solidFill>
                <a:latin typeface="Arial MT"/>
                <a:cs typeface="Arial MT"/>
              </a:rPr>
              <a:t>Collecting credit dataset, missing value audit, </a:t>
            </a:r>
            <a:r>
              <a:rPr sz="600" spc="-20" dirty="0">
                <a:solidFill>
                  <a:srgbClr val="93A3B8"/>
                </a:solidFill>
                <a:latin typeface="Arial MT"/>
                <a:cs typeface="Arial MT"/>
              </a:rPr>
              <a:t>uni-</a:t>
            </a:r>
            <a:r>
              <a:rPr sz="600" dirty="0">
                <a:solidFill>
                  <a:srgbClr val="93A3B8"/>
                </a:solidFill>
                <a:latin typeface="Arial MT"/>
                <a:cs typeface="Arial MT"/>
              </a:rPr>
              <a:t>variate</a:t>
            </a:r>
            <a:r>
              <a:rPr sz="600" spc="9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93A3B8"/>
                </a:solidFill>
                <a:latin typeface="Arial MT"/>
                <a:cs typeface="Arial MT"/>
              </a:rPr>
              <a:t>EDA.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59658" y="1284393"/>
            <a:ext cx="2161540" cy="1043305"/>
            <a:chOff x="3059658" y="1284393"/>
            <a:chExt cx="2161540" cy="1043305"/>
          </a:xfrm>
        </p:grpSpPr>
        <p:sp>
          <p:nvSpPr>
            <p:cNvPr id="12" name="object 12"/>
            <p:cNvSpPr/>
            <p:nvPr/>
          </p:nvSpPr>
          <p:spPr>
            <a:xfrm>
              <a:off x="3059658" y="1284393"/>
              <a:ext cx="2161540" cy="1043305"/>
            </a:xfrm>
            <a:custGeom>
              <a:avLst/>
              <a:gdLst/>
              <a:ahLst/>
              <a:cxnLst/>
              <a:rect l="l" t="t" r="r" b="b"/>
              <a:pathLst>
                <a:path w="2161540" h="1043305">
                  <a:moveTo>
                    <a:pt x="2040413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922164"/>
                  </a:lnTo>
                  <a:lnTo>
                    <a:pt x="9481" y="969128"/>
                  </a:lnTo>
                  <a:lnTo>
                    <a:pt x="35338" y="1007479"/>
                  </a:lnTo>
                  <a:lnTo>
                    <a:pt x="73689" y="1033336"/>
                  </a:lnTo>
                  <a:lnTo>
                    <a:pt x="120653" y="1042818"/>
                  </a:lnTo>
                  <a:lnTo>
                    <a:pt x="2040413" y="1042818"/>
                  </a:lnTo>
                  <a:lnTo>
                    <a:pt x="2087377" y="1033336"/>
                  </a:lnTo>
                  <a:lnTo>
                    <a:pt x="2125729" y="1007479"/>
                  </a:lnTo>
                  <a:lnTo>
                    <a:pt x="2151586" y="969128"/>
                  </a:lnTo>
                  <a:lnTo>
                    <a:pt x="2161067" y="922164"/>
                  </a:lnTo>
                  <a:lnTo>
                    <a:pt x="2161067" y="120653"/>
                  </a:lnTo>
                  <a:lnTo>
                    <a:pt x="2151586" y="73689"/>
                  </a:lnTo>
                  <a:lnTo>
                    <a:pt x="2125729" y="35338"/>
                  </a:lnTo>
                  <a:lnTo>
                    <a:pt x="2087377" y="9481"/>
                  </a:lnTo>
                  <a:lnTo>
                    <a:pt x="2040413" y="0"/>
                  </a:lnTo>
                  <a:close/>
                </a:path>
              </a:pathLst>
            </a:custGeom>
            <a:solidFill>
              <a:srgbClr val="33987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72311" y="1488380"/>
              <a:ext cx="2136140" cy="826769"/>
            </a:xfrm>
            <a:custGeom>
              <a:avLst/>
              <a:gdLst/>
              <a:ahLst/>
              <a:cxnLst/>
              <a:rect l="l" t="t" r="r" b="b"/>
              <a:pathLst>
                <a:path w="2136140" h="826769">
                  <a:moveTo>
                    <a:pt x="2135762" y="0"/>
                  </a:moveTo>
                  <a:lnTo>
                    <a:pt x="0" y="0"/>
                  </a:lnTo>
                  <a:lnTo>
                    <a:pt x="0" y="718177"/>
                  </a:lnTo>
                  <a:lnTo>
                    <a:pt x="8487" y="760216"/>
                  </a:lnTo>
                  <a:lnTo>
                    <a:pt x="31632" y="794545"/>
                  </a:lnTo>
                  <a:lnTo>
                    <a:pt x="65961" y="817691"/>
                  </a:lnTo>
                  <a:lnTo>
                    <a:pt x="108001" y="826178"/>
                  </a:lnTo>
                  <a:lnTo>
                    <a:pt x="2027760" y="826178"/>
                  </a:lnTo>
                  <a:lnTo>
                    <a:pt x="2069800" y="817691"/>
                  </a:lnTo>
                  <a:lnTo>
                    <a:pt x="2104129" y="794545"/>
                  </a:lnTo>
                  <a:lnTo>
                    <a:pt x="2127274" y="760216"/>
                  </a:lnTo>
                  <a:lnTo>
                    <a:pt x="2135762" y="718177"/>
                  </a:lnTo>
                  <a:lnTo>
                    <a:pt x="2135762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247440" y="1287105"/>
            <a:ext cx="1785620" cy="8921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95" dirty="0">
                <a:solidFill>
                  <a:srgbClr val="33D299"/>
                </a:solidFill>
                <a:latin typeface="Arial Black" panose="020B0A04020102020204"/>
                <a:cs typeface="Arial Black" panose="020B0A04020102020204"/>
              </a:rPr>
              <a:t>Phase</a:t>
            </a:r>
            <a:r>
              <a:rPr sz="1100" spc="-55" dirty="0">
                <a:solidFill>
                  <a:srgbClr val="33D299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50" dirty="0">
                <a:solidFill>
                  <a:srgbClr val="33D299"/>
                </a:solidFill>
                <a:latin typeface="Arial Black" panose="020B0A04020102020204"/>
                <a:cs typeface="Arial Black" panose="020B0A04020102020204"/>
              </a:rPr>
              <a:t>2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100" spc="-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Feature</a:t>
            </a:r>
            <a:r>
              <a:rPr sz="1100" spc="-3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Pipeline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 marR="5080">
              <a:lnSpc>
                <a:spcPct val="188000"/>
              </a:lnSpc>
              <a:spcBef>
                <a:spcPts val="300"/>
              </a:spcBef>
            </a:pPr>
            <a:r>
              <a:rPr sz="600" spc="10" dirty="0">
                <a:solidFill>
                  <a:srgbClr val="93A3B8"/>
                </a:solidFill>
                <a:latin typeface="Arial MT"/>
                <a:cs typeface="Arial MT"/>
              </a:rPr>
              <a:t>Log</a:t>
            </a:r>
            <a:r>
              <a:rPr sz="600" spc="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600" spc="10" dirty="0">
                <a:solidFill>
                  <a:srgbClr val="93A3B8"/>
                </a:solidFill>
                <a:latin typeface="Arial MT"/>
                <a:cs typeface="Arial MT"/>
              </a:rPr>
              <a:t>transforms,</a:t>
            </a:r>
            <a:r>
              <a:rPr sz="600" spc="6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600" spc="10" dirty="0">
                <a:solidFill>
                  <a:srgbClr val="93A3B8"/>
                </a:solidFill>
                <a:latin typeface="Arial MT"/>
                <a:cs typeface="Arial MT"/>
              </a:rPr>
              <a:t>One-Hot</a:t>
            </a:r>
            <a:r>
              <a:rPr sz="600" spc="6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600" spc="10" dirty="0">
                <a:solidFill>
                  <a:srgbClr val="93A3B8"/>
                </a:solidFill>
                <a:latin typeface="Arial MT"/>
                <a:cs typeface="Arial MT"/>
              </a:rPr>
              <a:t>encoding,</a:t>
            </a:r>
            <a:r>
              <a:rPr sz="600" spc="7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3A3B8"/>
                </a:solidFill>
                <a:latin typeface="Arial MT"/>
                <a:cs typeface="Arial MT"/>
              </a:rPr>
              <a:t>KNNImputer,</a:t>
            </a:r>
            <a:r>
              <a:rPr sz="600" spc="50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93A3B8"/>
                </a:solidFill>
                <a:latin typeface="Arial MT"/>
                <a:cs typeface="Arial MT"/>
              </a:rPr>
              <a:t>SMOTE.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71312" y="1284393"/>
            <a:ext cx="2161540" cy="1043305"/>
            <a:chOff x="5471312" y="1284393"/>
            <a:chExt cx="2161540" cy="1043305"/>
          </a:xfrm>
        </p:grpSpPr>
        <p:sp>
          <p:nvSpPr>
            <p:cNvPr id="16" name="object 16"/>
            <p:cNvSpPr/>
            <p:nvPr/>
          </p:nvSpPr>
          <p:spPr>
            <a:xfrm>
              <a:off x="5471312" y="1284393"/>
              <a:ext cx="2161540" cy="1043305"/>
            </a:xfrm>
            <a:custGeom>
              <a:avLst/>
              <a:gdLst/>
              <a:ahLst/>
              <a:cxnLst/>
              <a:rect l="l" t="t" r="r" b="b"/>
              <a:pathLst>
                <a:path w="2161540" h="1043305">
                  <a:moveTo>
                    <a:pt x="2040413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922164"/>
                  </a:lnTo>
                  <a:lnTo>
                    <a:pt x="9481" y="969128"/>
                  </a:lnTo>
                  <a:lnTo>
                    <a:pt x="35338" y="1007479"/>
                  </a:lnTo>
                  <a:lnTo>
                    <a:pt x="73689" y="1033336"/>
                  </a:lnTo>
                  <a:lnTo>
                    <a:pt x="120653" y="1042818"/>
                  </a:lnTo>
                  <a:lnTo>
                    <a:pt x="2040413" y="1042818"/>
                  </a:lnTo>
                  <a:lnTo>
                    <a:pt x="2087377" y="1033336"/>
                  </a:lnTo>
                  <a:lnTo>
                    <a:pt x="2125729" y="1007479"/>
                  </a:lnTo>
                  <a:lnTo>
                    <a:pt x="2151586" y="969128"/>
                  </a:lnTo>
                  <a:lnTo>
                    <a:pt x="2161067" y="922164"/>
                  </a:lnTo>
                  <a:lnTo>
                    <a:pt x="2161067" y="120653"/>
                  </a:lnTo>
                  <a:lnTo>
                    <a:pt x="2151586" y="73689"/>
                  </a:lnTo>
                  <a:lnTo>
                    <a:pt x="2125729" y="35338"/>
                  </a:lnTo>
                  <a:lnTo>
                    <a:pt x="2087377" y="9481"/>
                  </a:lnTo>
                  <a:lnTo>
                    <a:pt x="2040413" y="0"/>
                  </a:lnTo>
                  <a:close/>
                </a:path>
              </a:pathLst>
            </a:custGeom>
            <a:solidFill>
              <a:srgbClr val="8769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483965" y="1488380"/>
              <a:ext cx="2136140" cy="826769"/>
            </a:xfrm>
            <a:custGeom>
              <a:avLst/>
              <a:gdLst/>
              <a:ahLst/>
              <a:cxnLst/>
              <a:rect l="l" t="t" r="r" b="b"/>
              <a:pathLst>
                <a:path w="2136140" h="826769">
                  <a:moveTo>
                    <a:pt x="2135762" y="0"/>
                  </a:moveTo>
                  <a:lnTo>
                    <a:pt x="0" y="0"/>
                  </a:lnTo>
                  <a:lnTo>
                    <a:pt x="0" y="718177"/>
                  </a:lnTo>
                  <a:lnTo>
                    <a:pt x="8487" y="760216"/>
                  </a:lnTo>
                  <a:lnTo>
                    <a:pt x="31632" y="794545"/>
                  </a:lnTo>
                  <a:lnTo>
                    <a:pt x="65961" y="817691"/>
                  </a:lnTo>
                  <a:lnTo>
                    <a:pt x="108001" y="826178"/>
                  </a:lnTo>
                  <a:lnTo>
                    <a:pt x="2027760" y="826178"/>
                  </a:lnTo>
                  <a:lnTo>
                    <a:pt x="2069800" y="817691"/>
                  </a:lnTo>
                  <a:lnTo>
                    <a:pt x="2104129" y="794545"/>
                  </a:lnTo>
                  <a:lnTo>
                    <a:pt x="2127274" y="760216"/>
                  </a:lnTo>
                  <a:lnTo>
                    <a:pt x="2135762" y="718177"/>
                  </a:lnTo>
                  <a:lnTo>
                    <a:pt x="2135762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659094" y="1287105"/>
            <a:ext cx="1785620" cy="8921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95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Phase</a:t>
            </a:r>
            <a:r>
              <a:rPr sz="1100" spc="-55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50" dirty="0">
                <a:solidFill>
                  <a:srgbClr val="BF84FC"/>
                </a:solidFill>
                <a:latin typeface="Arial Black" panose="020B0A04020102020204"/>
                <a:cs typeface="Arial Black" panose="020B0A04020102020204"/>
              </a:rPr>
              <a:t>3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100" spc="-5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Model</a:t>
            </a:r>
            <a:r>
              <a:rPr sz="1100" spc="-6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Tuning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 marR="5080">
              <a:lnSpc>
                <a:spcPct val="188000"/>
              </a:lnSpc>
              <a:spcBef>
                <a:spcPts val="300"/>
              </a:spcBef>
            </a:pPr>
            <a:r>
              <a:rPr sz="600" spc="-10" dirty="0">
                <a:solidFill>
                  <a:srgbClr val="93A3B8"/>
                </a:solidFill>
                <a:latin typeface="Arial MT"/>
                <a:cs typeface="Arial MT"/>
              </a:rPr>
              <a:t>RandomizedSearchCV </a:t>
            </a:r>
            <a:r>
              <a:rPr sz="600" dirty="0">
                <a:solidFill>
                  <a:srgbClr val="93A3B8"/>
                </a:solidFill>
                <a:latin typeface="Arial MT"/>
                <a:cs typeface="Arial MT"/>
              </a:rPr>
              <a:t>optimization, </a:t>
            </a:r>
            <a:r>
              <a:rPr sz="600" spc="-10" dirty="0">
                <a:solidFill>
                  <a:srgbClr val="93A3B8"/>
                </a:solidFill>
                <a:latin typeface="Arial MT"/>
                <a:cs typeface="Arial MT"/>
              </a:rPr>
              <a:t>K-Fold valida-tion.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882966" y="1284393"/>
            <a:ext cx="2161540" cy="1043305"/>
            <a:chOff x="7882966" y="1284393"/>
            <a:chExt cx="2161540" cy="1043305"/>
          </a:xfrm>
        </p:grpSpPr>
        <p:sp>
          <p:nvSpPr>
            <p:cNvPr id="20" name="object 20"/>
            <p:cNvSpPr/>
            <p:nvPr/>
          </p:nvSpPr>
          <p:spPr>
            <a:xfrm>
              <a:off x="7882966" y="1284393"/>
              <a:ext cx="2161540" cy="1043305"/>
            </a:xfrm>
            <a:custGeom>
              <a:avLst/>
              <a:gdLst/>
              <a:ahLst/>
              <a:cxnLst/>
              <a:rect l="l" t="t" r="r" b="b"/>
              <a:pathLst>
                <a:path w="2161540" h="1043305">
                  <a:moveTo>
                    <a:pt x="2040413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922164"/>
                  </a:lnTo>
                  <a:lnTo>
                    <a:pt x="9481" y="969128"/>
                  </a:lnTo>
                  <a:lnTo>
                    <a:pt x="35338" y="1007479"/>
                  </a:lnTo>
                  <a:lnTo>
                    <a:pt x="73689" y="1033336"/>
                  </a:lnTo>
                  <a:lnTo>
                    <a:pt x="120653" y="1042818"/>
                  </a:lnTo>
                  <a:lnTo>
                    <a:pt x="2040413" y="1042818"/>
                  </a:lnTo>
                  <a:lnTo>
                    <a:pt x="2087377" y="1033336"/>
                  </a:lnTo>
                  <a:lnTo>
                    <a:pt x="2125729" y="1007479"/>
                  </a:lnTo>
                  <a:lnTo>
                    <a:pt x="2151586" y="969128"/>
                  </a:lnTo>
                  <a:lnTo>
                    <a:pt x="2161067" y="922164"/>
                  </a:lnTo>
                  <a:lnTo>
                    <a:pt x="2161067" y="120653"/>
                  </a:lnTo>
                  <a:lnTo>
                    <a:pt x="2151586" y="73689"/>
                  </a:lnTo>
                  <a:lnTo>
                    <a:pt x="2125729" y="35338"/>
                  </a:lnTo>
                  <a:lnTo>
                    <a:pt x="2087377" y="9481"/>
                  </a:lnTo>
                  <a:lnTo>
                    <a:pt x="2040413" y="0"/>
                  </a:lnTo>
                  <a:close/>
                </a:path>
              </a:pathLst>
            </a:custGeom>
            <a:solidFill>
              <a:srgbClr val="3340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895618" y="1488380"/>
              <a:ext cx="2136140" cy="826769"/>
            </a:xfrm>
            <a:custGeom>
              <a:avLst/>
              <a:gdLst/>
              <a:ahLst/>
              <a:cxnLst/>
              <a:rect l="l" t="t" r="r" b="b"/>
              <a:pathLst>
                <a:path w="2136140" h="826769">
                  <a:moveTo>
                    <a:pt x="2135762" y="0"/>
                  </a:moveTo>
                  <a:lnTo>
                    <a:pt x="0" y="0"/>
                  </a:lnTo>
                  <a:lnTo>
                    <a:pt x="0" y="718177"/>
                  </a:lnTo>
                  <a:lnTo>
                    <a:pt x="8487" y="760216"/>
                  </a:lnTo>
                  <a:lnTo>
                    <a:pt x="31632" y="794545"/>
                  </a:lnTo>
                  <a:lnTo>
                    <a:pt x="65961" y="817691"/>
                  </a:lnTo>
                  <a:lnTo>
                    <a:pt x="108001" y="826178"/>
                  </a:lnTo>
                  <a:lnTo>
                    <a:pt x="2027760" y="826178"/>
                  </a:lnTo>
                  <a:lnTo>
                    <a:pt x="2069800" y="817691"/>
                  </a:lnTo>
                  <a:lnTo>
                    <a:pt x="2104129" y="794545"/>
                  </a:lnTo>
                  <a:lnTo>
                    <a:pt x="2127274" y="760216"/>
                  </a:lnTo>
                  <a:lnTo>
                    <a:pt x="2135762" y="718177"/>
                  </a:lnTo>
                  <a:lnTo>
                    <a:pt x="2135762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8070748" y="1287105"/>
            <a:ext cx="1785620" cy="8921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9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Phase</a:t>
            </a:r>
            <a:r>
              <a:rPr sz="11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4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100" spc="-9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Ensemble</a:t>
            </a:r>
            <a:r>
              <a:rPr sz="1100" spc="-1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Stacking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 marR="5080">
              <a:lnSpc>
                <a:spcPct val="188000"/>
              </a:lnSpc>
              <a:spcBef>
                <a:spcPts val="300"/>
              </a:spcBef>
            </a:pPr>
            <a:r>
              <a:rPr sz="600" spc="10" dirty="0">
                <a:solidFill>
                  <a:srgbClr val="93A3B8"/>
                </a:solidFill>
                <a:latin typeface="Arial MT"/>
                <a:cs typeface="Arial MT"/>
              </a:rPr>
              <a:t>Meta-classifier training, evaluation metrics </a:t>
            </a:r>
            <a:r>
              <a:rPr sz="600" spc="-10" dirty="0">
                <a:solidFill>
                  <a:srgbClr val="93A3B8"/>
                </a:solidFill>
                <a:latin typeface="Arial MT"/>
                <a:cs typeface="Arial MT"/>
              </a:rPr>
              <a:t>analy-</a:t>
            </a:r>
            <a:r>
              <a:rPr sz="600" spc="-20" dirty="0">
                <a:solidFill>
                  <a:srgbClr val="93A3B8"/>
                </a:solidFill>
                <a:latin typeface="Arial MT"/>
                <a:cs typeface="Arial MT"/>
              </a:rPr>
              <a:t>sis.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48004" y="5380215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6324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Loan</a:t>
            </a:r>
            <a:r>
              <a:rPr spc="55" dirty="0"/>
              <a:t> </a:t>
            </a:r>
            <a:r>
              <a:rPr dirty="0"/>
              <a:t>Approval</a:t>
            </a:r>
            <a:r>
              <a:rPr spc="55" dirty="0"/>
              <a:t> </a:t>
            </a:r>
            <a:r>
              <a:rPr dirty="0"/>
              <a:t>Prediction</a:t>
            </a:r>
            <a:r>
              <a:rPr spc="55" dirty="0"/>
              <a:t> </a:t>
            </a:r>
            <a:r>
              <a:rPr dirty="0"/>
              <a:t>Using</a:t>
            </a:r>
            <a:r>
              <a:rPr spc="55" dirty="0"/>
              <a:t> </a:t>
            </a:r>
            <a:r>
              <a:rPr dirty="0"/>
              <a:t>Ensemble</a:t>
            </a:r>
            <a:r>
              <a:rPr spc="60" dirty="0"/>
              <a:t> </a:t>
            </a:r>
            <a:r>
              <a:rPr spc="-25" dirty="0"/>
              <a:t>ML</a:t>
            </a:r>
            <a:endParaRPr spc="-25" dirty="0"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Academic</a:t>
            </a:r>
            <a:r>
              <a:rPr spc="35" dirty="0"/>
              <a:t> </a:t>
            </a:r>
            <a:r>
              <a:rPr dirty="0"/>
              <a:t>Capstone</a:t>
            </a:r>
            <a:r>
              <a:rPr spc="35" dirty="0"/>
              <a:t> </a:t>
            </a:r>
            <a:r>
              <a:rPr spc="-10" dirty="0"/>
              <a:t>Presentation</a:t>
            </a:r>
            <a:endParaRPr spc="-10" dirty="0"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Slide</a:t>
            </a:r>
            <a:r>
              <a:rPr spc="-30" dirty="0"/>
              <a:t> 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304" y="388560"/>
            <a:ext cx="1914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KL</a:t>
            </a:r>
            <a:r>
              <a:rPr sz="1000" spc="-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DEEMED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TO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4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BE</a:t>
            </a:r>
            <a:r>
              <a:rPr sz="1000" spc="-6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0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UNIVERSITY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83753" y="388560"/>
            <a:ext cx="36112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27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|</a:t>
            </a:r>
            <a:r>
              <a:rPr sz="1000" spc="20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 </a:t>
            </a:r>
            <a:r>
              <a:rPr sz="1000" spc="-114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DEPARTMENT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OF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COMPUTER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2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SCIENCE</a:t>
            </a:r>
            <a:r>
              <a:rPr sz="1000" spc="-5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1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0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000" spc="-8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ENGINEERING</a:t>
            </a:r>
            <a:endParaRPr sz="10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51875" y="388560"/>
            <a:ext cx="1304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5" dirty="0">
                <a:solidFill>
                  <a:srgbClr val="93A3B8"/>
                </a:solidFill>
                <a:latin typeface="Arial MT"/>
                <a:cs typeface="Arial MT"/>
              </a:rPr>
              <a:t>B.TECH</a:t>
            </a:r>
            <a:r>
              <a:rPr sz="1000" spc="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14" dirty="0">
                <a:solidFill>
                  <a:srgbClr val="93A3B8"/>
                </a:solidFill>
                <a:latin typeface="Arial MT"/>
                <a:cs typeface="Arial MT"/>
              </a:rPr>
              <a:t>CSE</a:t>
            </a:r>
            <a:r>
              <a:rPr sz="1000" spc="1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(2026–</a:t>
            </a:r>
            <a:r>
              <a:rPr sz="1000" spc="-25" dirty="0">
                <a:solidFill>
                  <a:srgbClr val="93A3B8"/>
                </a:solidFill>
                <a:latin typeface="Arial MT"/>
                <a:cs typeface="Arial MT"/>
              </a:rPr>
              <a:t>27)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8004" y="745400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10121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648004" y="1357783"/>
            <a:ext cx="9396730" cy="770255"/>
            <a:chOff x="648004" y="1357783"/>
            <a:chExt cx="9396730" cy="770255"/>
          </a:xfrm>
        </p:grpSpPr>
        <p:sp>
          <p:nvSpPr>
            <p:cNvPr id="7" name="object 7"/>
            <p:cNvSpPr/>
            <p:nvPr/>
          </p:nvSpPr>
          <p:spPr>
            <a:xfrm>
              <a:off x="648004" y="1357783"/>
              <a:ext cx="9396730" cy="770255"/>
            </a:xfrm>
            <a:custGeom>
              <a:avLst/>
              <a:gdLst/>
              <a:ahLst/>
              <a:cxnLst/>
              <a:rect l="l" t="t" r="r" b="b"/>
              <a:pathLst>
                <a:path w="9396730" h="770255">
                  <a:moveTo>
                    <a:pt x="9275467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649422"/>
                  </a:lnTo>
                  <a:lnTo>
                    <a:pt x="9481" y="696386"/>
                  </a:lnTo>
                  <a:lnTo>
                    <a:pt x="35338" y="734737"/>
                  </a:lnTo>
                  <a:lnTo>
                    <a:pt x="73689" y="760594"/>
                  </a:lnTo>
                  <a:lnTo>
                    <a:pt x="120653" y="770076"/>
                  </a:lnTo>
                  <a:lnTo>
                    <a:pt x="9275467" y="770076"/>
                  </a:lnTo>
                  <a:lnTo>
                    <a:pt x="9322431" y="760594"/>
                  </a:lnTo>
                  <a:lnTo>
                    <a:pt x="9360782" y="734737"/>
                  </a:lnTo>
                  <a:lnTo>
                    <a:pt x="9386639" y="696386"/>
                  </a:lnTo>
                  <a:lnTo>
                    <a:pt x="9396121" y="649422"/>
                  </a:lnTo>
                  <a:lnTo>
                    <a:pt x="9396121" y="120653"/>
                  </a:lnTo>
                  <a:lnTo>
                    <a:pt x="9386639" y="73689"/>
                  </a:lnTo>
                  <a:lnTo>
                    <a:pt x="9360782" y="35338"/>
                  </a:lnTo>
                  <a:lnTo>
                    <a:pt x="9322431" y="9481"/>
                  </a:lnTo>
                  <a:lnTo>
                    <a:pt x="9275467" y="0"/>
                  </a:lnTo>
                  <a:close/>
                </a:path>
              </a:pathLst>
            </a:custGeom>
            <a:solidFill>
              <a:srgbClr val="368B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60657" y="1370435"/>
              <a:ext cx="9371330" cy="744855"/>
            </a:xfrm>
            <a:custGeom>
              <a:avLst/>
              <a:gdLst/>
              <a:ahLst/>
              <a:cxnLst/>
              <a:rect l="l" t="t" r="r" b="b"/>
              <a:pathLst>
                <a:path w="9371330" h="744855">
                  <a:moveTo>
                    <a:pt x="9262814" y="0"/>
                  </a:moveTo>
                  <a:lnTo>
                    <a:pt x="108001" y="0"/>
                  </a:lnTo>
                  <a:lnTo>
                    <a:pt x="65961" y="8487"/>
                  </a:lnTo>
                  <a:lnTo>
                    <a:pt x="31632" y="31632"/>
                  </a:lnTo>
                  <a:lnTo>
                    <a:pt x="8487" y="65961"/>
                  </a:lnTo>
                  <a:lnTo>
                    <a:pt x="0" y="108001"/>
                  </a:lnTo>
                  <a:lnTo>
                    <a:pt x="0" y="636769"/>
                  </a:lnTo>
                  <a:lnTo>
                    <a:pt x="8487" y="678808"/>
                  </a:lnTo>
                  <a:lnTo>
                    <a:pt x="31632" y="713138"/>
                  </a:lnTo>
                  <a:lnTo>
                    <a:pt x="65961" y="736283"/>
                  </a:lnTo>
                  <a:lnTo>
                    <a:pt x="108001" y="744770"/>
                  </a:lnTo>
                  <a:lnTo>
                    <a:pt x="9262814" y="744770"/>
                  </a:lnTo>
                  <a:lnTo>
                    <a:pt x="9304853" y="736283"/>
                  </a:lnTo>
                  <a:lnTo>
                    <a:pt x="9339183" y="713138"/>
                  </a:lnTo>
                  <a:lnTo>
                    <a:pt x="9362328" y="678808"/>
                  </a:lnTo>
                  <a:lnTo>
                    <a:pt x="9370815" y="636769"/>
                  </a:lnTo>
                  <a:lnTo>
                    <a:pt x="9370815" y="108001"/>
                  </a:lnTo>
                  <a:lnTo>
                    <a:pt x="9362328" y="65961"/>
                  </a:lnTo>
                  <a:lnTo>
                    <a:pt x="9339183" y="31632"/>
                  </a:lnTo>
                  <a:lnTo>
                    <a:pt x="9304853" y="8487"/>
                  </a:lnTo>
                  <a:lnTo>
                    <a:pt x="9262814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35304" y="828862"/>
            <a:ext cx="5961380" cy="892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Summary</a:t>
            </a:r>
            <a:r>
              <a:rPr sz="1400" spc="-8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17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&amp;</a:t>
            </a:r>
            <a:r>
              <a:rPr sz="1400" spc="-8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5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Guide</a:t>
            </a:r>
            <a:r>
              <a:rPr sz="1400" spc="-8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1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Acknowledgments</a:t>
            </a:r>
            <a:endParaRPr sz="1400">
              <a:latin typeface="Arial Black" panose="020B0A04020102020204"/>
              <a:cs typeface="Arial Black" panose="020B0A04020102020204"/>
            </a:endParaRPr>
          </a:p>
          <a:p>
            <a:pPr>
              <a:lnSpc>
                <a:spcPct val="100000"/>
              </a:lnSpc>
              <a:spcBef>
                <a:spcPts val="1445"/>
              </a:spcBef>
            </a:pPr>
            <a:endParaRPr sz="1400">
              <a:latin typeface="Arial Black" panose="020B0A04020102020204"/>
              <a:cs typeface="Arial Black" panose="020B0A04020102020204"/>
            </a:endParaRPr>
          </a:p>
          <a:p>
            <a:pPr marL="3472815">
              <a:lnSpc>
                <a:spcPct val="100000"/>
              </a:lnSpc>
            </a:pPr>
            <a:r>
              <a:rPr sz="1400" spc="-7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Thank</a:t>
            </a:r>
            <a:r>
              <a:rPr sz="1400" spc="-10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7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You!</a:t>
            </a:r>
            <a:r>
              <a:rPr sz="1400" spc="-1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5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Any</a:t>
            </a:r>
            <a:r>
              <a:rPr sz="1400" spc="-10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400" spc="-5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Questions?</a:t>
            </a:r>
            <a:endParaRPr sz="14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73718" y="1768181"/>
            <a:ext cx="400240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Loan</a:t>
            </a:r>
            <a:r>
              <a:rPr sz="1100" spc="19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Approval</a:t>
            </a:r>
            <a:r>
              <a:rPr sz="1100" spc="19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Prediction</a:t>
            </a:r>
            <a:r>
              <a:rPr sz="1100" spc="20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Using</a:t>
            </a:r>
            <a:r>
              <a:rPr sz="1100" spc="19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Ensemble</a:t>
            </a:r>
            <a:r>
              <a:rPr sz="1100" spc="19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Machine</a:t>
            </a:r>
            <a:r>
              <a:rPr sz="1100" spc="20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3A3B8"/>
                </a:solidFill>
                <a:latin typeface="Arial MT"/>
                <a:cs typeface="Arial MT"/>
              </a:rPr>
              <a:t>Learning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35496" y="1768181"/>
            <a:ext cx="17830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0345" indent="-207645">
              <a:lnSpc>
                <a:spcPct val="100000"/>
              </a:lnSpc>
              <a:spcBef>
                <a:spcPts val="90"/>
              </a:spcBef>
              <a:buFont typeface="Cambria" panose="02040503050406030204"/>
              <a:buChar char="•"/>
              <a:tabLst>
                <a:tab pos="220345" algn="l"/>
              </a:tabLst>
            </a:pP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Academic</a:t>
            </a:r>
            <a:r>
              <a:rPr sz="1100" spc="5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Year</a:t>
            </a:r>
            <a:r>
              <a:rPr sz="1100" spc="5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3B8"/>
                </a:solidFill>
                <a:latin typeface="Arial MT"/>
                <a:cs typeface="Arial MT"/>
              </a:rPr>
              <a:t>2026–</a:t>
            </a:r>
            <a:r>
              <a:rPr sz="1100" spc="-25" dirty="0">
                <a:solidFill>
                  <a:srgbClr val="93A3B8"/>
                </a:solidFill>
                <a:latin typeface="Arial MT"/>
                <a:cs typeface="Arial MT"/>
              </a:rPr>
              <a:t>27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8004" y="2426442"/>
            <a:ext cx="9396730" cy="883919"/>
            <a:chOff x="648004" y="2426442"/>
            <a:chExt cx="9396730" cy="883919"/>
          </a:xfrm>
        </p:grpSpPr>
        <p:sp>
          <p:nvSpPr>
            <p:cNvPr id="13" name="object 13"/>
            <p:cNvSpPr/>
            <p:nvPr/>
          </p:nvSpPr>
          <p:spPr>
            <a:xfrm>
              <a:off x="648004" y="2426442"/>
              <a:ext cx="9396730" cy="883919"/>
            </a:xfrm>
            <a:custGeom>
              <a:avLst/>
              <a:gdLst/>
              <a:ahLst/>
              <a:cxnLst/>
              <a:rect l="l" t="t" r="r" b="b"/>
              <a:pathLst>
                <a:path w="9396730" h="883920">
                  <a:moveTo>
                    <a:pt x="9275467" y="0"/>
                  </a:moveTo>
                  <a:lnTo>
                    <a:pt x="120653" y="0"/>
                  </a:lnTo>
                  <a:lnTo>
                    <a:pt x="73689" y="9481"/>
                  </a:lnTo>
                  <a:lnTo>
                    <a:pt x="35338" y="35338"/>
                  </a:lnTo>
                  <a:lnTo>
                    <a:pt x="9481" y="73689"/>
                  </a:lnTo>
                  <a:lnTo>
                    <a:pt x="0" y="120653"/>
                  </a:lnTo>
                  <a:lnTo>
                    <a:pt x="0" y="763018"/>
                  </a:lnTo>
                  <a:lnTo>
                    <a:pt x="9481" y="809982"/>
                  </a:lnTo>
                  <a:lnTo>
                    <a:pt x="35338" y="848333"/>
                  </a:lnTo>
                  <a:lnTo>
                    <a:pt x="73689" y="874190"/>
                  </a:lnTo>
                  <a:lnTo>
                    <a:pt x="120653" y="883672"/>
                  </a:lnTo>
                  <a:lnTo>
                    <a:pt x="9275467" y="883672"/>
                  </a:lnTo>
                  <a:lnTo>
                    <a:pt x="9322431" y="874190"/>
                  </a:lnTo>
                  <a:lnTo>
                    <a:pt x="9360782" y="848333"/>
                  </a:lnTo>
                  <a:lnTo>
                    <a:pt x="9386639" y="809982"/>
                  </a:lnTo>
                  <a:lnTo>
                    <a:pt x="9396121" y="763018"/>
                  </a:lnTo>
                  <a:lnTo>
                    <a:pt x="9396121" y="120653"/>
                  </a:lnTo>
                  <a:lnTo>
                    <a:pt x="9386639" y="73689"/>
                  </a:lnTo>
                  <a:lnTo>
                    <a:pt x="9360782" y="35338"/>
                  </a:lnTo>
                  <a:lnTo>
                    <a:pt x="9322431" y="9481"/>
                  </a:lnTo>
                  <a:lnTo>
                    <a:pt x="9275467" y="0"/>
                  </a:lnTo>
                  <a:close/>
                </a:path>
              </a:pathLst>
            </a:custGeom>
            <a:solidFill>
              <a:srgbClr val="3340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60657" y="2439095"/>
              <a:ext cx="9371330" cy="858519"/>
            </a:xfrm>
            <a:custGeom>
              <a:avLst/>
              <a:gdLst/>
              <a:ahLst/>
              <a:cxnLst/>
              <a:rect l="l" t="t" r="r" b="b"/>
              <a:pathLst>
                <a:path w="9371330" h="858520">
                  <a:moveTo>
                    <a:pt x="9262814" y="0"/>
                  </a:moveTo>
                  <a:lnTo>
                    <a:pt x="108001" y="0"/>
                  </a:lnTo>
                  <a:lnTo>
                    <a:pt x="65961" y="8487"/>
                  </a:lnTo>
                  <a:lnTo>
                    <a:pt x="31632" y="31632"/>
                  </a:lnTo>
                  <a:lnTo>
                    <a:pt x="8487" y="65961"/>
                  </a:lnTo>
                  <a:lnTo>
                    <a:pt x="0" y="108001"/>
                  </a:lnTo>
                  <a:lnTo>
                    <a:pt x="0" y="750365"/>
                  </a:lnTo>
                  <a:lnTo>
                    <a:pt x="8487" y="792404"/>
                  </a:lnTo>
                  <a:lnTo>
                    <a:pt x="31632" y="826734"/>
                  </a:lnTo>
                  <a:lnTo>
                    <a:pt x="65961" y="849879"/>
                  </a:lnTo>
                  <a:lnTo>
                    <a:pt x="108001" y="858366"/>
                  </a:lnTo>
                  <a:lnTo>
                    <a:pt x="9262814" y="858366"/>
                  </a:lnTo>
                  <a:lnTo>
                    <a:pt x="9304853" y="849879"/>
                  </a:lnTo>
                  <a:lnTo>
                    <a:pt x="9339183" y="826734"/>
                  </a:lnTo>
                  <a:lnTo>
                    <a:pt x="9362328" y="792404"/>
                  </a:lnTo>
                  <a:lnTo>
                    <a:pt x="9370815" y="750365"/>
                  </a:lnTo>
                  <a:lnTo>
                    <a:pt x="9370815" y="108001"/>
                  </a:lnTo>
                  <a:lnTo>
                    <a:pt x="9362328" y="65961"/>
                  </a:lnTo>
                  <a:lnTo>
                    <a:pt x="9339183" y="31632"/>
                  </a:lnTo>
                  <a:lnTo>
                    <a:pt x="9304853" y="8487"/>
                  </a:lnTo>
                  <a:lnTo>
                    <a:pt x="9262814" y="0"/>
                  </a:lnTo>
                  <a:close/>
                </a:path>
              </a:pathLst>
            </a:custGeom>
            <a:solidFill>
              <a:srgbClr val="1E28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835786" y="2499255"/>
            <a:ext cx="2415540" cy="64325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spc="-8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Project</a:t>
            </a:r>
            <a:r>
              <a:rPr sz="11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2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Team</a:t>
            </a:r>
            <a:r>
              <a:rPr sz="1100" spc="-5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Members: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75895" indent="-163195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175895" algn="l"/>
              </a:tabLst>
            </a:pP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B.</a:t>
            </a:r>
            <a:r>
              <a:rPr sz="1100" spc="-2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Rohan</a:t>
            </a:r>
            <a:r>
              <a:rPr sz="1100" spc="-1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8FAFC"/>
                </a:solidFill>
                <a:latin typeface="Arial MT"/>
                <a:cs typeface="Arial MT"/>
              </a:rPr>
              <a:t>Raja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Gopal</a:t>
            </a:r>
            <a:r>
              <a:rPr sz="1100" spc="-1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3A3B8"/>
                </a:solidFill>
                <a:latin typeface="Arial MT"/>
                <a:cs typeface="Arial MT"/>
              </a:rPr>
              <a:t>(2520030319)</a:t>
            </a:r>
            <a:endParaRPr sz="1100">
              <a:latin typeface="Arial MT"/>
              <a:cs typeface="Arial MT"/>
            </a:endParaRPr>
          </a:p>
          <a:p>
            <a:pPr marL="175895" indent="-163195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75895" algn="l"/>
              </a:tabLst>
            </a:pP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Tarun</a:t>
            </a:r>
            <a:r>
              <a:rPr sz="1100" spc="-1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Varakala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3A3B8"/>
                </a:solidFill>
                <a:latin typeface="Arial MT"/>
                <a:cs typeface="Arial MT"/>
              </a:rPr>
              <a:t>(2520030526)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13235" y="2499255"/>
            <a:ext cx="3371850" cy="64325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spc="-10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Academic</a:t>
            </a:r>
            <a:r>
              <a:rPr sz="1100" spc="-35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38BDF8"/>
                </a:solidFill>
                <a:latin typeface="Arial Black" panose="020B0A04020102020204"/>
                <a:cs typeface="Arial Black" panose="020B0A04020102020204"/>
              </a:rPr>
              <a:t>Details: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 marR="5080">
              <a:lnSpc>
                <a:spcPct val="103000"/>
              </a:lnSpc>
              <a:spcBef>
                <a:spcPts val="400"/>
              </a:spcBef>
            </a:pP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Course:</a:t>
            </a:r>
            <a:r>
              <a:rPr sz="1100" spc="19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Machine</a:t>
            </a:r>
            <a:r>
              <a:rPr sz="1100" spc="6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Learning</a:t>
            </a:r>
            <a:r>
              <a:rPr sz="1100" spc="6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F8FAFC"/>
                </a:solidFill>
                <a:latin typeface="Arial MT"/>
                <a:cs typeface="Arial MT"/>
              </a:rPr>
              <a:t>(B.Tech</a:t>
            </a:r>
            <a:r>
              <a:rPr sz="1100" spc="6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II-Year</a:t>
            </a:r>
            <a:r>
              <a:rPr sz="1100" spc="6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F8FAFC"/>
                </a:solidFill>
                <a:latin typeface="Arial MT"/>
                <a:cs typeface="Arial MT"/>
              </a:rPr>
              <a:t>CSE) </a:t>
            </a:r>
            <a:r>
              <a:rPr sz="1100" spc="50" dirty="0">
                <a:solidFill>
                  <a:srgbClr val="F8FAFC"/>
                </a:solidFill>
                <a:latin typeface="Arial MT"/>
                <a:cs typeface="Arial MT"/>
              </a:rPr>
              <a:t>Institution:</a:t>
            </a:r>
            <a:r>
              <a:rPr sz="1100" spc="15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F8FAFC"/>
                </a:solidFill>
                <a:latin typeface="Arial MT"/>
                <a:cs typeface="Arial MT"/>
              </a:rPr>
              <a:t>KL</a:t>
            </a:r>
            <a:r>
              <a:rPr sz="1100" spc="4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Deemed</a:t>
            </a:r>
            <a:r>
              <a:rPr sz="1100" spc="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65" dirty="0">
                <a:solidFill>
                  <a:srgbClr val="F8FAFC"/>
                </a:solidFill>
                <a:latin typeface="Arial MT"/>
                <a:cs typeface="Arial MT"/>
              </a:rPr>
              <a:t>to</a:t>
            </a:r>
            <a:r>
              <a:rPr sz="1100" spc="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be</a:t>
            </a:r>
            <a:r>
              <a:rPr sz="1100" spc="45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8FAFC"/>
                </a:solidFill>
                <a:latin typeface="Arial MT"/>
                <a:cs typeface="Arial MT"/>
              </a:rPr>
              <a:t>University,</a:t>
            </a:r>
            <a:r>
              <a:rPr sz="1100" spc="40" dirty="0">
                <a:solidFill>
                  <a:srgbClr val="F8FAFC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MT"/>
                <a:cs typeface="Arial MT"/>
              </a:rPr>
              <a:t>Hyderabad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70813" y="3662108"/>
            <a:ext cx="3382645" cy="0"/>
          </a:xfrm>
          <a:custGeom>
            <a:avLst/>
            <a:gdLst/>
            <a:ahLst/>
            <a:cxnLst/>
            <a:rect l="l" t="t" r="r" b="b"/>
            <a:pathLst>
              <a:path w="3382645">
                <a:moveTo>
                  <a:pt x="0" y="0"/>
                </a:moveTo>
                <a:lnTo>
                  <a:pt x="3382556" y="0"/>
                </a:lnTo>
              </a:path>
            </a:pathLst>
          </a:custGeom>
          <a:ln w="12649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904466" y="3692647"/>
            <a:ext cx="1715770" cy="4343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78105">
              <a:lnSpc>
                <a:spcPct val="100000"/>
              </a:lnSpc>
              <a:spcBef>
                <a:spcPts val="460"/>
              </a:spcBef>
            </a:pPr>
            <a:r>
              <a:rPr sz="1100" spc="-6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Signature</a:t>
            </a:r>
            <a:r>
              <a:rPr sz="1100" spc="-6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4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of</a:t>
            </a:r>
            <a:r>
              <a:rPr sz="1100" spc="-6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5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the</a:t>
            </a:r>
            <a:r>
              <a:rPr sz="1100" spc="-5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1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Guide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(Dr.</a:t>
            </a:r>
            <a:r>
              <a:rPr sz="1000" spc="13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Nirmala</a:t>
            </a:r>
            <a:r>
              <a:rPr sz="1000" spc="3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Jyothi</a:t>
            </a:r>
            <a:r>
              <a:rPr sz="1000" spc="35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Narisetty)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238633" y="3662108"/>
            <a:ext cx="3382645" cy="0"/>
          </a:xfrm>
          <a:custGeom>
            <a:avLst/>
            <a:gdLst/>
            <a:ahLst/>
            <a:cxnLst/>
            <a:rect l="l" t="t" r="r" b="b"/>
            <a:pathLst>
              <a:path w="3382645">
                <a:moveTo>
                  <a:pt x="0" y="0"/>
                </a:moveTo>
                <a:lnTo>
                  <a:pt x="3382556" y="0"/>
                </a:lnTo>
              </a:path>
            </a:pathLst>
          </a:custGeom>
          <a:ln w="12649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305954" y="3692647"/>
            <a:ext cx="1248410" cy="42354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60"/>
              </a:spcBef>
            </a:pPr>
            <a:r>
              <a:rPr sz="1100" spc="-8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Course</a:t>
            </a:r>
            <a:r>
              <a:rPr sz="1100" spc="-40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1100" spc="-35" dirty="0">
                <a:solidFill>
                  <a:srgbClr val="F8FAFC"/>
                </a:solidFill>
                <a:latin typeface="Arial Black" panose="020B0A04020102020204"/>
                <a:cs typeface="Arial Black" panose="020B0A04020102020204"/>
              </a:rPr>
              <a:t>Instructor</a:t>
            </a:r>
            <a:endParaRPr sz="1100">
              <a:latin typeface="Arial Black" panose="020B0A04020102020204"/>
              <a:cs typeface="Arial Black" panose="020B0A04020102020204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(</a:t>
            </a:r>
            <a:r>
              <a:rPr sz="1000" dirty="0">
                <a:solidFill>
                  <a:srgbClr val="93A3B8"/>
                </a:solidFill>
                <a:latin typeface="Arial MT"/>
                <a:cs typeface="Arial MT"/>
              </a:rPr>
              <a:t>D.</a:t>
            </a:r>
            <a:r>
              <a:rPr sz="1000" spc="-70" dirty="0">
                <a:solidFill>
                  <a:srgbClr val="93A3B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93A3B8"/>
                </a:solidFill>
                <a:latin typeface="Arial MT"/>
                <a:cs typeface="Arial MT"/>
              </a:rPr>
              <a:t>Jyothsna)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48004" y="5380215"/>
            <a:ext cx="9396095" cy="0"/>
          </a:xfrm>
          <a:custGeom>
            <a:avLst/>
            <a:gdLst/>
            <a:ahLst/>
            <a:cxnLst/>
            <a:rect l="l" t="t" r="r" b="b"/>
            <a:pathLst>
              <a:path w="9396095">
                <a:moveTo>
                  <a:pt x="0" y="0"/>
                </a:moveTo>
                <a:lnTo>
                  <a:pt x="9396006" y="0"/>
                </a:lnTo>
              </a:path>
            </a:pathLst>
          </a:custGeom>
          <a:ln w="6324">
            <a:solidFill>
              <a:srgbClr val="3340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Loan</a:t>
            </a:r>
            <a:r>
              <a:rPr spc="55" dirty="0"/>
              <a:t> </a:t>
            </a:r>
            <a:r>
              <a:rPr dirty="0"/>
              <a:t>Approval</a:t>
            </a:r>
            <a:r>
              <a:rPr spc="55" dirty="0"/>
              <a:t> </a:t>
            </a:r>
            <a:r>
              <a:rPr dirty="0"/>
              <a:t>Prediction</a:t>
            </a:r>
            <a:r>
              <a:rPr spc="55" dirty="0"/>
              <a:t> </a:t>
            </a:r>
            <a:r>
              <a:rPr dirty="0"/>
              <a:t>Using</a:t>
            </a:r>
            <a:r>
              <a:rPr spc="55" dirty="0"/>
              <a:t> </a:t>
            </a:r>
            <a:r>
              <a:rPr dirty="0"/>
              <a:t>Ensemble</a:t>
            </a:r>
            <a:r>
              <a:rPr spc="60" dirty="0"/>
              <a:t> </a:t>
            </a:r>
            <a:r>
              <a:rPr spc="-25" dirty="0"/>
              <a:t>ML</a:t>
            </a:r>
            <a:endParaRPr spc="-25" dirty="0"/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Academic</a:t>
            </a:r>
            <a:r>
              <a:rPr spc="35" dirty="0"/>
              <a:t> </a:t>
            </a:r>
            <a:r>
              <a:rPr dirty="0"/>
              <a:t>Capstone</a:t>
            </a:r>
            <a:r>
              <a:rPr spc="35" dirty="0"/>
              <a:t> </a:t>
            </a:r>
            <a:r>
              <a:rPr spc="-10" dirty="0"/>
              <a:t>Presentation</a:t>
            </a:r>
            <a:endParaRPr spc="-10"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Slide</a:t>
            </a:r>
            <a:r>
              <a:rPr spc="-30" dirty="0"/>
              <a:t> </a:t>
            </a: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8471</Words>
  <Application>WPS Presentation</Application>
  <PresentationFormat>On-screen Show (4:3)</PresentationFormat>
  <Paragraphs>383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Arial MT</vt:lpstr>
      <vt:lpstr>Arial Black</vt:lpstr>
      <vt:lpstr>Cambria</vt:lpstr>
      <vt:lpstr>Lucida Sans Unicode</vt:lpstr>
      <vt:lpstr>Calibri</vt:lpstr>
      <vt:lpstr>Tahoma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rohan</cp:lastModifiedBy>
  <cp:revision>2</cp:revision>
  <dcterms:created xsi:type="dcterms:W3CDTF">2026-08-24T15:05:38Z</dcterms:created>
  <dcterms:modified xsi:type="dcterms:W3CDTF">2026-08-24T15:06:30Z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2026-08-24T05:30:00Z</vt:filetime>
  </property>
  <property fmtid="{D5CDD505-2E9C-101B-9397-08002B2CF9AE}" pid="4" name="Creator">
    <vt:lpwstr>TeX</vt:lpwstr>
  </property>
  <property fmtid="{D5CDD505-2E9C-101B-9397-08002B2CF9AE}" pid="5" name="LastSaved">
    <vt:filetime>2026-08-24T05:30:00Z</vt:filetime>
  </property>
  <property fmtid="{D5CDD505-2E9C-101B-9397-08002B2CF9AE}" pid="6" name="PTEX.FullBanner">
    <vt:lpwstr>This is LuaHBTeX, Version 1.22.0 (TeX Live 2025)</vt:lpwstr>
  </property>
  <property fmtid="{D5CDD505-2E9C-101B-9397-08002B2CF9AE}" pid="7" name="Producer">
    <vt:lpwstr>LuaTeX-1.22.0</vt:lpwstr>
  </property>
  <property fmtid="{D5CDD505-2E9C-101B-9397-08002B2CF9AE}" pid="8" name="ICV">
    <vt:lpwstr>612750C397EA4D8A862C3186A8CA8FFE_12</vt:lpwstr>
  </property>
  <property fmtid="{D5CDD505-2E9C-101B-9397-08002B2CF9AE}" pid="9" name="KSOProductBuildVer">
    <vt:lpwstr>1033-12.1.0.28032</vt:lpwstr>
  </property>
</Properties>
</file>